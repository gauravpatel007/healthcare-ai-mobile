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686800" y="-1371600"/>
            <a:ext cx="4572000" cy="4572000"/>
          </a:xfrm>
          <a:prstGeom prst="ellipse">
            <a:avLst/>
          </a:prstGeom>
          <a:solidFill>
            <a:srgbClr val="1E40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914400" y="5029200"/>
            <a:ext cx="3200400" cy="3200400"/>
          </a:xfrm>
          <a:prstGeom prst="ellipse">
            <a:avLst/>
          </a:prstGeom>
          <a:solidFill>
            <a:srgbClr val="0E3D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645920"/>
            <a:ext cx="9144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6000" b="1">
                <a:solidFill>
                  <a:srgbClr val="FFFFFF"/>
                </a:solidFill>
                <a:latin typeface="Calibri"/>
              </a:defRPr>
            </a:pPr>
            <a:r>
              <a:t>LifeOS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65176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0">
                <a:solidFill>
                  <a:srgbClr val="60A5FA"/>
                </a:solidFill>
                <a:latin typeface="Calibri"/>
              </a:defRPr>
            </a:pPr>
            <a:r>
              <a:t>AI-Powered Healthcare Operating System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" y="3383280"/>
            <a:ext cx="1828800" cy="63500"/>
          </a:xfrm>
          <a:prstGeom prst="roundRect">
            <a:avLst>
              <a:gd name="adj" fmla="val 50000"/>
            </a:avLst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3657600"/>
            <a:ext cx="73152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94A3B8"/>
                </a:solidFill>
                <a:latin typeface="Calibri"/>
              </a:defRPr>
            </a:pPr>
            <a:r>
              <a:t>A production-ready full-stack application with 80+ REST API endpoints,</a:t>
            </a:r>
            <a:br/>
            <a:r>
              <a:t>16 healthcare modules, and deep AI integration — built with FastAPI &amp; React.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14400" y="5303520"/>
            <a:ext cx="3474720" cy="45720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51560" y="5321808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60A5FA"/>
                </a:solidFill>
                <a:latin typeface="Calibri"/>
              </a:defRPr>
            </a:pPr>
            <a:r>
              <a:t>⚡  FastAPI  ·  React  ·  PostgreSQL  ·  Groq AI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94A3B8"/>
                </a:solidFill>
                <a:latin typeface="Calibri"/>
              </a:defRPr>
            </a:pPr>
            <a:r>
              <a:t>1/14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Calibri"/>
              </a:defRPr>
            </a:pPr>
            <a:r>
              <a:t>Project Overview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051560"/>
            <a:ext cx="1097280" cy="63500"/>
          </a:xfrm>
          <a:prstGeom prst="roundRect">
            <a:avLst>
              <a:gd name="adj" fmla="val 50000"/>
            </a:avLst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23444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94A3B8"/>
                </a:solidFill>
                <a:latin typeface="Calibri"/>
              </a:defRPr>
            </a:pPr>
            <a:r>
              <a:t>What is LifeOS?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828800"/>
            <a:ext cx="10515600" cy="1280160"/>
          </a:xfrm>
          <a:prstGeom prst="roundRect">
            <a:avLst>
              <a:gd name="adj" fmla="val 5000"/>
            </a:avLst>
          </a:prstGeom>
          <a:solidFill>
            <a:srgbClr val="1B24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96596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F8FAFC"/>
                </a:solidFill>
                <a:latin typeface="Calibri"/>
              </a:defRPr>
            </a:pPr>
            <a:r>
              <a:t>LifeOS is a comprehensive AI-powered healthcare platform that serves as a personal health operating system. It combines medical record management, health tracking, AI-driven insights, and gamification to help users take control of their health journey.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3474720"/>
            <a:ext cx="2377440" cy="237744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3657600"/>
            <a:ext cx="1828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60A5FA"/>
                </a:solidFill>
                <a:latin typeface="Calibri"/>
              </a:defRPr>
            </a:pPr>
            <a:r>
              <a:t>80+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448056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700" b="1">
                <a:solidFill>
                  <a:srgbClr val="FFFFFF"/>
                </a:solidFill>
                <a:latin typeface="Calibri"/>
              </a:defRPr>
            </a:pPr>
            <a:r>
              <a:t>API Endpoints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493776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94A3B8"/>
                </a:solidFill>
                <a:latin typeface="Calibri"/>
              </a:defRPr>
            </a:pPr>
            <a:r>
              <a:t>Across 16 modules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355848" y="3474720"/>
            <a:ext cx="2377440" cy="237744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630168" y="3657600"/>
            <a:ext cx="1828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60A5FA"/>
                </a:solidFill>
                <a:latin typeface="Calibri"/>
              </a:defRPr>
            </a:pPr>
            <a:r>
              <a:t>17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30168" y="448056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700" b="1">
                <a:solidFill>
                  <a:srgbClr val="FFFFFF"/>
                </a:solidFill>
                <a:latin typeface="Calibri"/>
              </a:defRPr>
            </a:pPr>
            <a:r>
              <a:t>API Routers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30168" y="493776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94A3B8"/>
                </a:solidFill>
                <a:latin typeface="Calibri"/>
              </a:defRPr>
            </a:pPr>
            <a:r>
              <a:t>RESTful architecture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980176" y="3474720"/>
            <a:ext cx="2377440" cy="237744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254496" y="3657600"/>
            <a:ext cx="1828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60A5FA"/>
                </a:solidFill>
                <a:latin typeface="Calibri"/>
              </a:defRPr>
            </a:pPr>
            <a:r>
              <a:t>11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54496" y="448056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700" b="1">
                <a:solidFill>
                  <a:srgbClr val="FFFFFF"/>
                </a:solidFill>
                <a:latin typeface="Calibri"/>
              </a:defRPr>
            </a:pPr>
            <a:r>
              <a:t>Database Models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54496" y="493776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94A3B8"/>
                </a:solidFill>
                <a:latin typeface="Calibri"/>
              </a:defRPr>
            </a:pPr>
            <a:r>
              <a:t>SQLAlchemy ORM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604504" y="3474720"/>
            <a:ext cx="2377440" cy="237744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878824" y="3657600"/>
            <a:ext cx="1828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60A5FA"/>
                </a:solidFill>
                <a:latin typeface="Calibri"/>
              </a:defRPr>
            </a:pPr>
            <a:r>
              <a:t>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878824" y="448056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700" b="1">
                <a:solidFill>
                  <a:srgbClr val="FFFFFF"/>
                </a:solidFill>
                <a:latin typeface="Calibri"/>
              </a:defRPr>
            </a:pPr>
            <a:r>
              <a:t>AI Modules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78824" y="493776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94A3B8"/>
                </a:solidFill>
                <a:latin typeface="Calibri"/>
              </a:defRPr>
            </a:pPr>
            <a:r>
              <a:t>Groq Llama 3.3 70B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97280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94A3B8"/>
                </a:solidFill>
                <a:latin typeface="Calibri"/>
              </a:defRPr>
            </a:pPr>
            <a:r>
              <a:t>2/14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Calibri"/>
              </a:defRPr>
            </a:pPr>
            <a:r>
              <a:t>System Architecture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051560"/>
            <a:ext cx="1097280" cy="63500"/>
          </a:xfrm>
          <a:prstGeom prst="roundRect">
            <a:avLst>
              <a:gd name="adj" fmla="val 50000"/>
            </a:avLst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23444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94A3B8"/>
                </a:solidFill>
                <a:latin typeface="Calibri"/>
              </a:defRPr>
            </a:pPr>
            <a:r>
              <a:t>Full-stack overview of the LifeOS platform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828800"/>
            <a:ext cx="3291840" cy="438912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 w="2540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828800"/>
            <a:ext cx="3291840" cy="63500"/>
          </a:xfrm>
          <a:prstGeom prst="roundRect">
            <a:avLst>
              <a:gd name="adj" fmla="val 50000"/>
            </a:avLst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01168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06B6D4"/>
                </a:solidFill>
                <a:latin typeface="Calibri"/>
              </a:defRPr>
            </a:pPr>
            <a:r>
              <a:t>🖥️  Frontend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" y="2651760"/>
            <a:ext cx="265176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>
                <a:solidFill>
                  <a:srgbClr val="F8FAFC"/>
                </a:solidFill>
                <a:latin typeface="Calibri"/>
              </a:defRPr>
            </a:pPr>
            <a:r>
              <a:t>›  React + Vite</a:t>
            </a:r>
          </a:p>
          <a:p>
            <a:pPr>
              <a:spcAft>
                <a:spcPts val="600"/>
              </a:spcAft>
              <a:defRPr sz="1500">
                <a:solidFill>
                  <a:srgbClr val="F8FAFC"/>
                </a:solidFill>
                <a:latin typeface="Calibri"/>
              </a:defRPr>
            </a:pPr>
            <a:r>
              <a:t>›  Inter Typography</a:t>
            </a:r>
          </a:p>
          <a:p>
            <a:pPr>
              <a:spcAft>
                <a:spcPts val="600"/>
              </a:spcAft>
              <a:defRPr sz="1500">
                <a:solidFill>
                  <a:srgbClr val="F8FAFC"/>
                </a:solidFill>
                <a:latin typeface="Calibri"/>
              </a:defRPr>
            </a:pPr>
            <a:r>
              <a:t>›  Blue/Cyan Gradient Design</a:t>
            </a:r>
          </a:p>
          <a:p>
            <a:pPr>
              <a:spcAft>
                <a:spcPts val="600"/>
              </a:spcAft>
              <a:defRPr sz="1500">
                <a:solidFill>
                  <a:srgbClr val="F8FAFC"/>
                </a:solidFill>
                <a:latin typeface="Calibri"/>
              </a:defRPr>
            </a:pPr>
            <a:r>
              <a:t>›  Glassmorphism UI</a:t>
            </a:r>
          </a:p>
          <a:p>
            <a:pPr>
              <a:spcAft>
                <a:spcPts val="600"/>
              </a:spcAft>
              <a:defRPr sz="1500">
                <a:solidFill>
                  <a:srgbClr val="F8FAFC"/>
                </a:solidFill>
                <a:latin typeface="Calibri"/>
              </a:defRPr>
            </a:pPr>
            <a:r>
              <a:t>›  Dark / Light Mode</a:t>
            </a:r>
          </a:p>
          <a:p>
            <a:pPr>
              <a:spcAft>
                <a:spcPts val="600"/>
              </a:spcAft>
              <a:defRPr sz="1500">
                <a:solidFill>
                  <a:srgbClr val="F8FAFC"/>
                </a:solidFill>
                <a:latin typeface="Calibri"/>
              </a:defRPr>
            </a:pPr>
            <a:r>
              <a:t>›  3-Column Dashboard Layout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43400" y="1828800"/>
            <a:ext cx="3291840" cy="438912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 w="254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4343400" y="1828800"/>
            <a:ext cx="3291840" cy="63500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617720" y="201168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2563EB"/>
                </a:solidFill>
                <a:latin typeface="Calibri"/>
              </a:defRPr>
            </a:pPr>
            <a:r>
              <a:t>⚙️  Backend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63440" y="2651760"/>
            <a:ext cx="265176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>
                <a:solidFill>
                  <a:srgbClr val="F8FAFC"/>
                </a:solidFill>
                <a:latin typeface="Calibri"/>
              </a:defRPr>
            </a:pPr>
            <a:r>
              <a:t>›  FastAPI 0.115</a:t>
            </a:r>
          </a:p>
          <a:p>
            <a:pPr>
              <a:spcAft>
                <a:spcPts val="600"/>
              </a:spcAft>
              <a:defRPr sz="1500">
                <a:solidFill>
                  <a:srgbClr val="F8FAFC"/>
                </a:solidFill>
                <a:latin typeface="Calibri"/>
              </a:defRPr>
            </a:pPr>
            <a:r>
              <a:t>›  Async SQLAlchemy 2.0</a:t>
            </a:r>
          </a:p>
          <a:p>
            <a:pPr>
              <a:spcAft>
                <a:spcPts val="600"/>
              </a:spcAft>
              <a:defRPr sz="1500">
                <a:solidFill>
                  <a:srgbClr val="F8FAFC"/>
                </a:solidFill>
                <a:latin typeface="Calibri"/>
              </a:defRPr>
            </a:pPr>
            <a:r>
              <a:t>›  17 API Routers</a:t>
            </a:r>
          </a:p>
          <a:p>
            <a:pPr>
              <a:spcAft>
                <a:spcPts val="600"/>
              </a:spcAft>
              <a:defRPr sz="1500">
                <a:solidFill>
                  <a:srgbClr val="F8FAFC"/>
                </a:solidFill>
                <a:latin typeface="Calibri"/>
              </a:defRPr>
            </a:pPr>
            <a:r>
              <a:t>›  JWT Auth (PyJWT + bcrypt)</a:t>
            </a:r>
          </a:p>
          <a:p>
            <a:pPr>
              <a:spcAft>
                <a:spcPts val="600"/>
              </a:spcAft>
              <a:defRPr sz="1500">
                <a:solidFill>
                  <a:srgbClr val="F8FAFC"/>
                </a:solidFill>
                <a:latin typeface="Calibri"/>
              </a:defRPr>
            </a:pPr>
            <a:r>
              <a:t>›  Pydantic v2 Validation</a:t>
            </a:r>
          </a:p>
          <a:p>
            <a:pPr>
              <a:spcAft>
                <a:spcPts val="600"/>
              </a:spcAft>
              <a:defRPr sz="1500">
                <a:solidFill>
                  <a:srgbClr val="F8FAFC"/>
                </a:solidFill>
                <a:latin typeface="Calibri"/>
              </a:defRPr>
            </a:pPr>
            <a:r>
              <a:t>›  Alembic Migrations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955280" y="1828800"/>
            <a:ext cx="3291840" cy="438912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 w="2540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7955280" y="1828800"/>
            <a:ext cx="3291840" cy="63500"/>
          </a:xfrm>
          <a:prstGeom prst="roundRect">
            <a:avLst>
              <a:gd name="adj" fmla="val 50000"/>
            </a:avLst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29600" y="201168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8B5CF6"/>
                </a:solidFill>
                <a:latin typeface="Calibri"/>
              </a:defRPr>
            </a:pPr>
            <a:r>
              <a:t>🧠  AI Layer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75320" y="2651760"/>
            <a:ext cx="265176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>
                <a:solidFill>
                  <a:srgbClr val="F8FAFC"/>
                </a:solidFill>
                <a:latin typeface="Calibri"/>
              </a:defRPr>
            </a:pPr>
            <a:r>
              <a:t>›  Groq SDK (Llama 3.3 70B)</a:t>
            </a:r>
          </a:p>
          <a:p>
            <a:pPr>
              <a:spcAft>
                <a:spcPts val="600"/>
              </a:spcAft>
              <a:defRPr sz="1500">
                <a:solidFill>
                  <a:srgbClr val="F8FAFC"/>
                </a:solidFill>
                <a:latin typeface="Calibri"/>
              </a:defRPr>
            </a:pPr>
            <a:r>
              <a:t>›  AI Chat Assistant</a:t>
            </a:r>
          </a:p>
          <a:p>
            <a:pPr>
              <a:spcAft>
                <a:spcPts val="600"/>
              </a:spcAft>
              <a:defRPr sz="1500">
                <a:solidFill>
                  <a:srgbClr val="F8FAFC"/>
                </a:solidFill>
                <a:latin typeface="Calibri"/>
              </a:defRPr>
            </a:pPr>
            <a:r>
              <a:t>›  Symptom Analyzer</a:t>
            </a:r>
          </a:p>
          <a:p>
            <a:pPr>
              <a:spcAft>
                <a:spcPts val="600"/>
              </a:spcAft>
              <a:defRPr sz="1500">
                <a:solidFill>
                  <a:srgbClr val="F8FAFC"/>
                </a:solidFill>
                <a:latin typeface="Calibri"/>
              </a:defRPr>
            </a:pPr>
            <a:r>
              <a:t>›  Nutrition Planner</a:t>
            </a:r>
          </a:p>
          <a:p>
            <a:pPr>
              <a:spcAft>
                <a:spcPts val="600"/>
              </a:spcAft>
              <a:defRPr sz="1500">
                <a:solidFill>
                  <a:srgbClr val="F8FAFC"/>
                </a:solidFill>
                <a:latin typeface="Calibri"/>
              </a:defRPr>
            </a:pPr>
            <a:r>
              <a:t>›  Fitness Coach</a:t>
            </a:r>
          </a:p>
          <a:p>
            <a:pPr>
              <a:spcAft>
                <a:spcPts val="600"/>
              </a:spcAft>
              <a:defRPr sz="1500">
                <a:solidFill>
                  <a:srgbClr val="F8FAFC"/>
                </a:solidFill>
                <a:latin typeface="Calibri"/>
              </a:defRPr>
            </a:pPr>
            <a:r>
              <a:t>›  Mental Health Module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1520" y="6309360"/>
            <a:ext cx="10515600" cy="411480"/>
          </a:xfrm>
          <a:prstGeom prst="roundRect">
            <a:avLst>
              <a:gd name="adj" fmla="val 5000"/>
            </a:avLst>
          </a:prstGeom>
          <a:solidFill>
            <a:srgbClr val="1B2435"/>
          </a:solidFill>
          <a:ln w="12700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05840" y="6318504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0">
                <a:solidFill>
                  <a:srgbClr val="22C55E"/>
                </a:solidFill>
                <a:latin typeface="Calibri"/>
              </a:defRPr>
            </a:pPr>
            <a:r>
              <a:t>🗄️  PostgreSQL 16  ·  Async Driver (asyncpg)  ·  Alembic Migrations  ·  Docker + docker-compose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97280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94A3B8"/>
                </a:solidFill>
                <a:latin typeface="Calibri"/>
              </a:defRPr>
            </a:pPr>
            <a:r>
              <a:t>3/14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Calibri"/>
              </a:defRPr>
            </a:pPr>
            <a:r>
              <a:t>Technology Stack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051560"/>
            <a:ext cx="1097280" cy="63500"/>
          </a:xfrm>
          <a:prstGeom prst="roundRect">
            <a:avLst>
              <a:gd name="adj" fmla="val 50000"/>
            </a:avLst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23444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94A3B8"/>
                </a:solidFill>
                <a:latin typeface="Calibri"/>
              </a:defRPr>
            </a:pPr>
            <a:r>
              <a:t>Modern tools for a production-grade platform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828800"/>
            <a:ext cx="5120640" cy="100584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828800"/>
            <a:ext cx="63500" cy="1005840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1901952"/>
            <a:ext cx="4663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563EB"/>
                </a:solidFill>
                <a:latin typeface="Calibri"/>
              </a:defRPr>
            </a:pPr>
            <a:r>
              <a:t>Backend Framework:  FastAPI 0.115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2286000"/>
            <a:ext cx="4663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Calibri"/>
              </a:defRPr>
            </a:pPr>
            <a:r>
              <a:t>High-performance async Python web framework with automatic OpenAPI docs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26480" y="1828800"/>
            <a:ext cx="5120640" cy="100584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 w="12700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126480" y="1828800"/>
            <a:ext cx="63500" cy="1005840"/>
          </a:xfrm>
          <a:prstGeom prst="roundRect">
            <a:avLst>
              <a:gd name="adj" fmla="val 50000"/>
            </a:avLst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55080" y="1901952"/>
            <a:ext cx="4663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2C55E"/>
                </a:solidFill>
                <a:latin typeface="Calibri"/>
              </a:defRPr>
            </a:pPr>
            <a:r>
              <a:t>Database:  PostgreSQL 16 + SQLAlchemy 2.0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55080" y="2286000"/>
            <a:ext cx="4663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Calibri"/>
              </a:defRPr>
            </a:pPr>
            <a:r>
              <a:t>Enterprise-grade relational DB with async ORM (asyncpg driver)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3017520"/>
            <a:ext cx="5120640" cy="100584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731520" y="3017520"/>
            <a:ext cx="63500" cy="1005840"/>
          </a:xfrm>
          <a:prstGeom prst="roundRect">
            <a:avLst>
              <a:gd name="adj" fmla="val 50000"/>
            </a:avLst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0120" y="3090672"/>
            <a:ext cx="4663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59E0B"/>
                </a:solidFill>
                <a:latin typeface="Calibri"/>
              </a:defRPr>
            </a:pPr>
            <a:r>
              <a:t>Authentication:  JWT + bcrypt + TOTP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60120" y="3474720"/>
            <a:ext cx="4663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Calibri"/>
              </a:defRPr>
            </a:pPr>
            <a:r>
              <a:t>PyJWT tokens, bcrypt password hashing, pyotp for 2FA, Google OAuth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26480" y="3017520"/>
            <a:ext cx="5120640" cy="100584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 w="1270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6126480" y="3017520"/>
            <a:ext cx="63500" cy="1005840"/>
          </a:xfrm>
          <a:prstGeom prst="roundRect">
            <a:avLst>
              <a:gd name="adj" fmla="val 50000"/>
            </a:avLst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355080" y="3090672"/>
            <a:ext cx="4663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8B5CF6"/>
                </a:solidFill>
                <a:latin typeface="Calibri"/>
              </a:defRPr>
            </a:pPr>
            <a:r>
              <a:t>AI / LLM:  Groq SDK — Llama 3.3 70B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55080" y="3474720"/>
            <a:ext cx="4663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Calibri"/>
              </a:defRPr>
            </a:pPr>
            <a:r>
              <a:t>Cloud-hosted large language model for chat, symptoms, nutrition, fitness, mental health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31520" y="4206240"/>
            <a:ext cx="5120640" cy="100584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 w="1270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731520" y="4206240"/>
            <a:ext cx="63500" cy="1005840"/>
          </a:xfrm>
          <a:prstGeom prst="roundRect">
            <a:avLst>
              <a:gd name="adj" fmla="val 50000"/>
            </a:avLst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60120" y="4279392"/>
            <a:ext cx="4663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6B6D4"/>
                </a:solidFill>
                <a:latin typeface="Calibri"/>
              </a:defRPr>
            </a:pPr>
            <a:r>
              <a:t>Frontend:  React + Vite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60120" y="4663440"/>
            <a:ext cx="4663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Calibri"/>
              </a:defRPr>
            </a:pPr>
            <a:r>
              <a:t>Modern SPA with component-based architecture and hot module replacement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126480" y="4206240"/>
            <a:ext cx="5120640" cy="100584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 w="1270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6126480" y="4206240"/>
            <a:ext cx="63500" cy="1005840"/>
          </a:xfrm>
          <a:prstGeom prst="roundRect">
            <a:avLst>
              <a:gd name="adj" fmla="val 50000"/>
            </a:avLst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355080" y="4279392"/>
            <a:ext cx="4663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EF4444"/>
                </a:solidFill>
                <a:latin typeface="Calibri"/>
              </a:defRPr>
            </a:pPr>
            <a:r>
              <a:t>DevOps:  Docker + docker-compose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355080" y="4663440"/>
            <a:ext cx="4663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Calibri"/>
              </a:defRPr>
            </a:pPr>
            <a:r>
              <a:t>Containerized deployment with PostgreSQL, FastAPI, and Flask Chatbot services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31520" y="5394960"/>
            <a:ext cx="5120640" cy="100584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 w="12700">
            <a:solidFill>
              <a:srgbClr val="60A5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731520" y="5394960"/>
            <a:ext cx="63500" cy="1005840"/>
          </a:xfrm>
          <a:prstGeom prst="roundRect">
            <a:avLst>
              <a:gd name="adj" fmla="val 50000"/>
            </a:avLst>
          </a:prstGeom>
          <a:solidFill>
            <a:srgbClr val="60A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60120" y="5468112"/>
            <a:ext cx="4663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60A5FA"/>
                </a:solidFill>
                <a:latin typeface="Calibri"/>
              </a:defRPr>
            </a:pPr>
            <a:r>
              <a:t>Validation:  Pydantic v2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60120" y="5852160"/>
            <a:ext cx="4663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Calibri"/>
              </a:defRPr>
            </a:pPr>
            <a:r>
              <a:t>Type-safe request/response schemas with automatic validation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126480" y="5394960"/>
            <a:ext cx="5120640" cy="100584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 w="12700">
            <a:solidFill>
              <a:srgbClr val="A78B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6126480" y="5394960"/>
            <a:ext cx="63500" cy="1005840"/>
          </a:xfrm>
          <a:prstGeom prst="roundRect">
            <a:avLst>
              <a:gd name="adj" fmla="val 50000"/>
            </a:avLst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355080" y="5468112"/>
            <a:ext cx="4663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A78BFA"/>
                </a:solidFill>
                <a:latin typeface="Calibri"/>
              </a:defRPr>
            </a:pPr>
            <a:r>
              <a:t>Migrations:  Alembic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355080" y="5852160"/>
            <a:ext cx="4663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Calibri"/>
              </a:defRPr>
            </a:pPr>
            <a:r>
              <a:t>Version-controlled database schema migrations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97280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94A3B8"/>
                </a:solidFill>
                <a:latin typeface="Calibri"/>
              </a:defRPr>
            </a:pPr>
            <a:r>
              <a:t>4/14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Calibri"/>
              </a:defRPr>
            </a:pPr>
            <a:r>
              <a:t>🔐 Authentication &amp; Security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051560"/>
            <a:ext cx="1097280" cy="63500"/>
          </a:xfrm>
          <a:prstGeom prst="roundRect">
            <a:avLst>
              <a:gd name="adj" fmla="val 50000"/>
            </a:avLst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23444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94A3B8"/>
                </a:solidFill>
                <a:latin typeface="Calibri"/>
              </a:defRPr>
            </a:pPr>
            <a:r>
              <a:t>Multi-layered identity management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828800"/>
            <a:ext cx="3383280" cy="201168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005840" y="1965960"/>
            <a:ext cx="548640" cy="50800"/>
          </a:xfrm>
          <a:prstGeom prst="roundRect">
            <a:avLst>
              <a:gd name="adj" fmla="val 50000"/>
            </a:avLst>
          </a:prstGeom>
          <a:solidFill>
            <a:srgbClr val="60A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057400"/>
            <a:ext cx="2834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60A5FA"/>
                </a:solidFill>
                <a:latin typeface="Calibri"/>
              </a:defRPr>
            </a:pPr>
            <a:r>
              <a:t>Email / Password Auth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468880"/>
            <a:ext cx="28346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>
                <a:solidFill>
                  <a:srgbClr val="F8FAFC"/>
                </a:solidFill>
                <a:latin typeface="Calibri"/>
              </a:defRPr>
            </a:pPr>
            <a:r>
              <a:t>•  JWT-based session management</a:t>
            </a:r>
          </a:p>
          <a:p>
            <a:pPr>
              <a:spcAft>
                <a:spcPts val="600"/>
              </a:spcAft>
              <a:defRPr sz="1300">
                <a:solidFill>
                  <a:srgbClr val="F8FAFC"/>
                </a:solidFill>
                <a:latin typeface="Calibri"/>
              </a:defRPr>
            </a:pPr>
            <a:r>
              <a:t>•  bcrypt password hashing</a:t>
            </a:r>
          </a:p>
          <a:p>
            <a:pPr>
              <a:spcAft>
                <a:spcPts val="600"/>
              </a:spcAft>
              <a:defRPr sz="1300">
                <a:solidFill>
                  <a:srgbClr val="F8FAFC"/>
                </a:solidFill>
                <a:latin typeface="Calibri"/>
              </a:defRPr>
            </a:pPr>
            <a:r>
              <a:t>•  Access + Refresh token flow</a:t>
            </a:r>
          </a:p>
          <a:p>
            <a:pPr>
              <a:spcAft>
                <a:spcPts val="600"/>
              </a:spcAft>
              <a:defRPr sz="1300">
                <a:solidFill>
                  <a:srgbClr val="F8FAFC"/>
                </a:solidFill>
                <a:latin typeface="Calibri"/>
              </a:defRPr>
            </a:pPr>
            <a:r>
              <a:t>•  Login history tracking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89120" y="1828800"/>
            <a:ext cx="3383280" cy="201168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4663440" y="1965960"/>
            <a:ext cx="548640" cy="50800"/>
          </a:xfrm>
          <a:prstGeom prst="roundRect">
            <a:avLst>
              <a:gd name="adj" fmla="val 50000"/>
            </a:avLst>
          </a:prstGeom>
          <a:solidFill>
            <a:srgbClr val="60A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663440" y="2057400"/>
            <a:ext cx="2834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60A5FA"/>
                </a:solidFill>
                <a:latin typeface="Calibri"/>
              </a:defRPr>
            </a:pPr>
            <a:r>
              <a:t>Google OAuth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63440" y="2468880"/>
            <a:ext cx="28346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>
                <a:solidFill>
                  <a:srgbClr val="F8FAFC"/>
                </a:solidFill>
                <a:latin typeface="Calibri"/>
              </a:defRPr>
            </a:pPr>
            <a:r>
              <a:t>•  One-click Google Sign-In</a:t>
            </a:r>
          </a:p>
          <a:p>
            <a:pPr>
              <a:spcAft>
                <a:spcPts val="600"/>
              </a:spcAft>
              <a:defRPr sz="1300">
                <a:solidFill>
                  <a:srgbClr val="F8FAFC"/>
                </a:solidFill>
                <a:latin typeface="Calibri"/>
              </a:defRPr>
            </a:pPr>
            <a:r>
              <a:t>•  Auto-register new users</a:t>
            </a:r>
          </a:p>
          <a:p>
            <a:pPr>
              <a:spcAft>
                <a:spcPts val="600"/>
              </a:spcAft>
              <a:defRPr sz="1300">
                <a:solidFill>
                  <a:srgbClr val="F8FAFC"/>
                </a:solidFill>
                <a:latin typeface="Calibri"/>
              </a:defRPr>
            </a:pPr>
            <a:r>
              <a:t>•  Seamless 2FA integration</a:t>
            </a:r>
          </a:p>
          <a:p>
            <a:pPr>
              <a:spcAft>
                <a:spcPts val="600"/>
              </a:spcAft>
              <a:defRPr sz="1300">
                <a:solidFill>
                  <a:srgbClr val="F8FAFC"/>
                </a:solidFill>
                <a:latin typeface="Calibri"/>
              </a:defRPr>
            </a:pPr>
            <a:r>
              <a:t>•  Verified email bypass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46720" y="1828800"/>
            <a:ext cx="3383280" cy="201168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8321040" y="1965960"/>
            <a:ext cx="548640" cy="50800"/>
          </a:xfrm>
          <a:prstGeom prst="roundRect">
            <a:avLst>
              <a:gd name="adj" fmla="val 50000"/>
            </a:avLst>
          </a:prstGeom>
          <a:solidFill>
            <a:srgbClr val="60A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321040" y="2057400"/>
            <a:ext cx="2834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60A5FA"/>
                </a:solidFill>
                <a:latin typeface="Calibri"/>
              </a:defRPr>
            </a:pPr>
            <a:r>
              <a:t>Face Verification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21040" y="2468880"/>
            <a:ext cx="28346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>
                <a:solidFill>
                  <a:srgbClr val="F8FAFC"/>
                </a:solidFill>
                <a:latin typeface="Calibri"/>
              </a:defRPr>
            </a:pPr>
            <a:r>
              <a:t>•  128-float face descriptor matching</a:t>
            </a:r>
          </a:p>
          <a:p>
            <a:pPr>
              <a:spcAft>
                <a:spcPts val="600"/>
              </a:spcAft>
              <a:defRPr sz="1300">
                <a:solidFill>
                  <a:srgbClr val="F8FAFC"/>
                </a:solidFill>
                <a:latin typeface="Calibri"/>
              </a:defRPr>
            </a:pPr>
            <a:r>
              <a:t>•  Euclidean distance comparison</a:t>
            </a:r>
          </a:p>
          <a:p>
            <a:pPr>
              <a:spcAft>
                <a:spcPts val="600"/>
              </a:spcAft>
              <a:defRPr sz="1300">
                <a:solidFill>
                  <a:srgbClr val="F8FAFC"/>
                </a:solidFill>
                <a:latin typeface="Calibri"/>
              </a:defRPr>
            </a:pPr>
            <a:r>
              <a:t>•  Client-side face-api.js embedding</a:t>
            </a:r>
          </a:p>
          <a:p>
            <a:pPr>
              <a:spcAft>
                <a:spcPts val="600"/>
              </a:spcAft>
              <a:defRPr sz="1300">
                <a:solidFill>
                  <a:srgbClr val="F8FAFC"/>
                </a:solidFill>
                <a:latin typeface="Calibri"/>
              </a:defRPr>
            </a:pPr>
            <a:r>
              <a:t>•  Biometric login support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1520" y="4069080"/>
            <a:ext cx="3383280" cy="201168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1005840" y="4206240"/>
            <a:ext cx="548640" cy="50800"/>
          </a:xfrm>
          <a:prstGeom prst="roundRect">
            <a:avLst>
              <a:gd name="adj" fmla="val 50000"/>
            </a:avLst>
          </a:prstGeom>
          <a:solidFill>
            <a:srgbClr val="60A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05840" y="4297680"/>
            <a:ext cx="2834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60A5FA"/>
                </a:solidFill>
                <a:latin typeface="Calibri"/>
              </a:defRPr>
            </a:pPr>
            <a:r>
              <a:t>Two-Factor Auth (2FA)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05840" y="4709160"/>
            <a:ext cx="28346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>
                <a:solidFill>
                  <a:srgbClr val="F8FAFC"/>
                </a:solidFill>
                <a:latin typeface="Calibri"/>
              </a:defRPr>
            </a:pPr>
            <a:r>
              <a:t>•  TOTP via authenticator apps</a:t>
            </a:r>
          </a:p>
          <a:p>
            <a:pPr>
              <a:spcAft>
                <a:spcPts val="600"/>
              </a:spcAft>
              <a:defRPr sz="1300">
                <a:solidFill>
                  <a:srgbClr val="F8FAFC"/>
                </a:solidFill>
                <a:latin typeface="Calibri"/>
              </a:defRPr>
            </a:pPr>
            <a:r>
              <a:t>•  Secure setup with QR URI</a:t>
            </a:r>
          </a:p>
          <a:p>
            <a:pPr>
              <a:spcAft>
                <a:spcPts val="600"/>
              </a:spcAft>
              <a:defRPr sz="1300">
                <a:solidFill>
                  <a:srgbClr val="F8FAFC"/>
                </a:solidFill>
                <a:latin typeface="Calibri"/>
              </a:defRPr>
            </a:pPr>
            <a:r>
              <a:t>•  Temporary token flow (5 min)</a:t>
            </a:r>
          </a:p>
          <a:p>
            <a:pPr>
              <a:spcAft>
                <a:spcPts val="600"/>
              </a:spcAft>
              <a:defRPr sz="1300">
                <a:solidFill>
                  <a:srgbClr val="F8FAFC"/>
                </a:solidFill>
                <a:latin typeface="Calibri"/>
              </a:defRPr>
            </a:pPr>
            <a:r>
              <a:t>•  pyotp integration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389120" y="4069080"/>
            <a:ext cx="3383280" cy="201168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4663440" y="4206240"/>
            <a:ext cx="548640" cy="50800"/>
          </a:xfrm>
          <a:prstGeom prst="roundRect">
            <a:avLst>
              <a:gd name="adj" fmla="val 50000"/>
            </a:avLst>
          </a:prstGeom>
          <a:solidFill>
            <a:srgbClr val="60A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663440" y="4297680"/>
            <a:ext cx="2834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60A5FA"/>
                </a:solidFill>
                <a:latin typeface="Calibri"/>
              </a:defRPr>
            </a:pPr>
            <a:r>
              <a:t>Email Verification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663440" y="4709160"/>
            <a:ext cx="28346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>
                <a:solidFill>
                  <a:srgbClr val="F8FAFC"/>
                </a:solidFill>
                <a:latin typeface="Calibri"/>
              </a:defRPr>
            </a:pPr>
            <a:r>
              <a:t>•  6-digit verification codes</a:t>
            </a:r>
          </a:p>
          <a:p>
            <a:pPr>
              <a:spcAft>
                <a:spcPts val="600"/>
              </a:spcAft>
              <a:defRPr sz="1300">
                <a:solidFill>
                  <a:srgbClr val="F8FAFC"/>
                </a:solidFill>
                <a:latin typeface="Calibri"/>
              </a:defRPr>
            </a:pPr>
            <a:r>
              <a:t>•  15-minute token expiration</a:t>
            </a:r>
          </a:p>
          <a:p>
            <a:pPr>
              <a:spcAft>
                <a:spcPts val="600"/>
              </a:spcAft>
              <a:defRPr sz="1300">
                <a:solidFill>
                  <a:srgbClr val="F8FAFC"/>
                </a:solidFill>
                <a:latin typeface="Calibri"/>
              </a:defRPr>
            </a:pPr>
            <a:r>
              <a:t>•  Async email sending (smtplib)</a:t>
            </a:r>
          </a:p>
          <a:p>
            <a:pPr>
              <a:spcAft>
                <a:spcPts val="600"/>
              </a:spcAft>
              <a:defRPr sz="1300">
                <a:solidFill>
                  <a:srgbClr val="F8FAFC"/>
                </a:solidFill>
                <a:latin typeface="Calibri"/>
              </a:defRPr>
            </a:pPr>
            <a:r>
              <a:t>•  Anti-enumeration protection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046720" y="4069080"/>
            <a:ext cx="3383280" cy="201168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8321040" y="4206240"/>
            <a:ext cx="548640" cy="50800"/>
          </a:xfrm>
          <a:prstGeom prst="roundRect">
            <a:avLst>
              <a:gd name="adj" fmla="val 50000"/>
            </a:avLst>
          </a:prstGeom>
          <a:solidFill>
            <a:srgbClr val="60A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321040" y="4297680"/>
            <a:ext cx="2834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60A5FA"/>
                </a:solidFill>
                <a:latin typeface="Calibri"/>
              </a:defRPr>
            </a:pPr>
            <a:r>
              <a:t>Role-Based Access (RBAC)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321040" y="4709160"/>
            <a:ext cx="28346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>
                <a:solidFill>
                  <a:srgbClr val="F8FAFC"/>
                </a:solidFill>
                <a:latin typeface="Calibri"/>
              </a:defRPr>
            </a:pPr>
            <a:r>
              <a:t>•  Patient / Doctor / Admin roles</a:t>
            </a:r>
          </a:p>
          <a:p>
            <a:pPr>
              <a:spcAft>
                <a:spcPts val="600"/>
              </a:spcAft>
              <a:defRPr sz="1300">
                <a:solidFill>
                  <a:srgbClr val="F8FAFC"/>
                </a:solidFill>
                <a:latin typeface="Calibri"/>
              </a:defRPr>
            </a:pPr>
            <a:r>
              <a:t>•  Role stored on User model</a:t>
            </a:r>
          </a:p>
          <a:p>
            <a:pPr>
              <a:spcAft>
                <a:spcPts val="600"/>
              </a:spcAft>
              <a:defRPr sz="1300">
                <a:solidFill>
                  <a:srgbClr val="F8FAFC"/>
                </a:solidFill>
                <a:latin typeface="Calibri"/>
              </a:defRPr>
            </a:pPr>
            <a:r>
              <a:t>•  Extensible permission system</a:t>
            </a:r>
          </a:p>
          <a:p>
            <a:pPr>
              <a:spcAft>
                <a:spcPts val="600"/>
              </a:spcAft>
              <a:defRPr sz="1300">
                <a:solidFill>
                  <a:srgbClr val="F8FAFC"/>
                </a:solidFill>
                <a:latin typeface="Calibri"/>
              </a:defRPr>
            </a:pPr>
            <a:r>
              <a:t>•  Enum-based role management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97280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94A3B8"/>
                </a:solidFill>
                <a:latin typeface="Calibri"/>
              </a:defRPr>
            </a:pPr>
            <a:r>
              <a:t>5/14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Calibri"/>
              </a:defRPr>
            </a:pPr>
            <a:r>
              <a:t>🩺 Core Healthcare Modules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051560"/>
            <a:ext cx="1097280" cy="63500"/>
          </a:xfrm>
          <a:prstGeom prst="roundRect">
            <a:avLst>
              <a:gd name="adj" fmla="val 50000"/>
            </a:avLst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23444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94A3B8"/>
                </a:solidFill>
                <a:latin typeface="Calibri"/>
              </a:defRPr>
            </a:pPr>
            <a:r>
              <a:t>Comprehensive patient health management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828800"/>
            <a:ext cx="3383280" cy="201168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 w="12700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005840" y="1965960"/>
            <a:ext cx="548640" cy="50800"/>
          </a:xfrm>
          <a:prstGeom prst="roundRect">
            <a:avLst>
              <a:gd name="adj" fmla="val 50000"/>
            </a:avLst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057400"/>
            <a:ext cx="2834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22C55E"/>
                </a:solidFill>
                <a:latin typeface="Calibri"/>
              </a:defRPr>
            </a:pPr>
            <a:r>
              <a:t>Dashboard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468880"/>
            <a:ext cx="28346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>
                <a:solidFill>
                  <a:srgbClr val="F8FAFC"/>
                </a:solidFill>
                <a:latin typeface="Calibri"/>
              </a:defRPr>
            </a:pPr>
            <a:r>
              <a:t>•  Health score calculation</a:t>
            </a:r>
          </a:p>
          <a:p>
            <a:pPr>
              <a:spcAft>
                <a:spcPts val="600"/>
              </a:spcAft>
              <a:defRPr sz="1300">
                <a:solidFill>
                  <a:srgbClr val="F8FAFC"/>
                </a:solidFill>
                <a:latin typeface="Calibri"/>
              </a:defRPr>
            </a:pPr>
            <a:r>
              <a:t>•  Unified summary view</a:t>
            </a:r>
          </a:p>
          <a:p>
            <a:pPr>
              <a:spcAft>
                <a:spcPts val="600"/>
              </a:spcAft>
              <a:defRPr sz="1300">
                <a:solidFill>
                  <a:srgbClr val="F8FAFC"/>
                </a:solidFill>
                <a:latin typeface="Calibri"/>
              </a:defRPr>
            </a:pPr>
            <a:r>
              <a:t>•  Quick-access widgets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89120" y="1828800"/>
            <a:ext cx="3383280" cy="201168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4663440" y="1965960"/>
            <a:ext cx="548640" cy="50800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663440" y="2057400"/>
            <a:ext cx="2834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2563EB"/>
                </a:solidFill>
                <a:latin typeface="Calibri"/>
              </a:defRPr>
            </a:pPr>
            <a:r>
              <a:t>Medical Records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63440" y="2468880"/>
            <a:ext cx="28346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>
                <a:solidFill>
                  <a:srgbClr val="F8FAFC"/>
                </a:solidFill>
                <a:latin typeface="Calibri"/>
              </a:defRPr>
            </a:pPr>
            <a:r>
              <a:t>•  Full CRUD operations</a:t>
            </a:r>
          </a:p>
          <a:p>
            <a:pPr>
              <a:spcAft>
                <a:spcPts val="600"/>
              </a:spcAft>
              <a:defRPr sz="1300">
                <a:solidFill>
                  <a:srgbClr val="F8FAFC"/>
                </a:solidFill>
                <a:latin typeface="Calibri"/>
              </a:defRPr>
            </a:pPr>
            <a:r>
              <a:t>•  File uploads (PDF/images)</a:t>
            </a:r>
          </a:p>
          <a:p>
            <a:pPr>
              <a:spcAft>
                <a:spcPts val="600"/>
              </a:spcAft>
              <a:defRPr sz="1300">
                <a:solidFill>
                  <a:srgbClr val="F8FAFC"/>
                </a:solidFill>
                <a:latin typeface="Calibri"/>
              </a:defRPr>
            </a:pPr>
            <a:r>
              <a:t>•  AI-powered PDF parsing</a:t>
            </a:r>
          </a:p>
          <a:p>
            <a:pPr>
              <a:spcAft>
                <a:spcPts val="600"/>
              </a:spcAft>
              <a:defRPr sz="1300">
                <a:solidFill>
                  <a:srgbClr val="F8FAFC"/>
                </a:solidFill>
                <a:latin typeface="Calibri"/>
              </a:defRPr>
            </a:pPr>
            <a:r>
              <a:t>•  AI record comparison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46720" y="1828800"/>
            <a:ext cx="3383280" cy="201168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8321040" y="1965960"/>
            <a:ext cx="548640" cy="50800"/>
          </a:xfrm>
          <a:prstGeom prst="roundRect">
            <a:avLst>
              <a:gd name="adj" fmla="val 50000"/>
            </a:avLst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321040" y="2057400"/>
            <a:ext cx="2834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59E0B"/>
                </a:solidFill>
                <a:latin typeface="Calibri"/>
              </a:defRPr>
            </a:pPr>
            <a:r>
              <a:t>Medicines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21040" y="2468880"/>
            <a:ext cx="28346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>
                <a:solidFill>
                  <a:srgbClr val="F8FAFC"/>
                </a:solidFill>
                <a:latin typeface="Calibri"/>
              </a:defRPr>
            </a:pPr>
            <a:r>
              <a:t>•  Medication tracking</a:t>
            </a:r>
          </a:p>
          <a:p>
            <a:pPr>
              <a:spcAft>
                <a:spcPts val="600"/>
              </a:spcAft>
              <a:defRPr sz="1300">
                <a:solidFill>
                  <a:srgbClr val="F8FAFC"/>
                </a:solidFill>
                <a:latin typeface="Calibri"/>
              </a:defRPr>
            </a:pPr>
            <a:r>
              <a:t>•  Drug interaction checker</a:t>
            </a:r>
          </a:p>
          <a:p>
            <a:pPr>
              <a:spcAft>
                <a:spcPts val="600"/>
              </a:spcAft>
              <a:defRPr sz="1300">
                <a:solidFill>
                  <a:srgbClr val="F8FAFC"/>
                </a:solidFill>
                <a:latin typeface="Calibri"/>
              </a:defRPr>
            </a:pPr>
            <a:r>
              <a:t>•  Refill reminders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1520" y="4069080"/>
            <a:ext cx="3383280" cy="201168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 w="1270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1005840" y="4206240"/>
            <a:ext cx="548640" cy="50800"/>
          </a:xfrm>
          <a:prstGeom prst="roundRect">
            <a:avLst>
              <a:gd name="adj" fmla="val 50000"/>
            </a:avLst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05840" y="4297680"/>
            <a:ext cx="2834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6B6D4"/>
                </a:solidFill>
                <a:latin typeface="Calibri"/>
              </a:defRPr>
            </a:pPr>
            <a:r>
              <a:t>Appointments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05840" y="4709160"/>
            <a:ext cx="28346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>
                <a:solidFill>
                  <a:srgbClr val="F8FAFC"/>
                </a:solidFill>
                <a:latin typeface="Calibri"/>
              </a:defRPr>
            </a:pPr>
            <a:r>
              <a:t>•  Scheduling &amp; management</a:t>
            </a:r>
          </a:p>
          <a:p>
            <a:pPr>
              <a:spcAft>
                <a:spcPts val="600"/>
              </a:spcAft>
              <a:defRPr sz="1300">
                <a:solidFill>
                  <a:srgbClr val="F8FAFC"/>
                </a:solidFill>
                <a:latin typeface="Calibri"/>
              </a:defRPr>
            </a:pPr>
            <a:r>
              <a:t>•  AI-powered suggestions</a:t>
            </a:r>
          </a:p>
          <a:p>
            <a:pPr>
              <a:spcAft>
                <a:spcPts val="600"/>
              </a:spcAft>
              <a:defRPr sz="1300">
                <a:solidFill>
                  <a:srgbClr val="F8FAFC"/>
                </a:solidFill>
                <a:latin typeface="Calibri"/>
              </a:defRPr>
            </a:pPr>
            <a:r>
              <a:t>•  Status tracking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389120" y="4069080"/>
            <a:ext cx="3383280" cy="201168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 w="1270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4663440" y="4206240"/>
            <a:ext cx="548640" cy="50800"/>
          </a:xfrm>
          <a:prstGeom prst="roundRect">
            <a:avLst>
              <a:gd name="adj" fmla="val 50000"/>
            </a:avLst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663440" y="4297680"/>
            <a:ext cx="2834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EF4444"/>
                </a:solidFill>
                <a:latin typeface="Calibri"/>
              </a:defRPr>
            </a:pPr>
            <a:r>
              <a:t>Emergency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663440" y="4709160"/>
            <a:ext cx="28346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>
                <a:solidFill>
                  <a:srgbClr val="F8FAFC"/>
                </a:solidFill>
                <a:latin typeface="Calibri"/>
              </a:defRPr>
            </a:pPr>
            <a:r>
              <a:t>•  Emergency contacts &amp; SOS</a:t>
            </a:r>
          </a:p>
          <a:p>
            <a:pPr>
              <a:spcAft>
                <a:spcPts val="600"/>
              </a:spcAft>
              <a:defRPr sz="1300">
                <a:solidFill>
                  <a:srgbClr val="F8FAFC"/>
                </a:solidFill>
                <a:latin typeface="Calibri"/>
              </a:defRPr>
            </a:pPr>
            <a:r>
              <a:t>•  Medical QR code data</a:t>
            </a:r>
          </a:p>
          <a:p>
            <a:pPr>
              <a:spcAft>
                <a:spcPts val="600"/>
              </a:spcAft>
              <a:defRPr sz="1300">
                <a:solidFill>
                  <a:srgbClr val="F8FAFC"/>
                </a:solidFill>
                <a:latin typeface="Calibri"/>
              </a:defRPr>
            </a:pPr>
            <a:r>
              <a:t>•  Organ donor status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046720" y="4069080"/>
            <a:ext cx="3383280" cy="201168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 w="1270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8321040" y="4206240"/>
            <a:ext cx="548640" cy="50800"/>
          </a:xfrm>
          <a:prstGeom prst="roundRect">
            <a:avLst>
              <a:gd name="adj" fmla="val 50000"/>
            </a:avLst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321040" y="4297680"/>
            <a:ext cx="2834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8B5CF6"/>
                </a:solidFill>
                <a:latin typeface="Calibri"/>
              </a:defRPr>
            </a:pPr>
            <a:r>
              <a:t>Family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321040" y="4709160"/>
            <a:ext cx="28346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>
                <a:solidFill>
                  <a:srgbClr val="F8FAFC"/>
                </a:solidFill>
                <a:latin typeface="Calibri"/>
              </a:defRPr>
            </a:pPr>
            <a:r>
              <a:t>•  Family member profiles</a:t>
            </a:r>
          </a:p>
          <a:p>
            <a:pPr>
              <a:spcAft>
                <a:spcPts val="600"/>
              </a:spcAft>
              <a:defRPr sz="1300">
                <a:solidFill>
                  <a:srgbClr val="F8FAFC"/>
                </a:solidFill>
                <a:latin typeface="Calibri"/>
              </a:defRPr>
            </a:pPr>
            <a:r>
              <a:t>•  Vaccination records</a:t>
            </a:r>
          </a:p>
          <a:p>
            <a:pPr>
              <a:spcAft>
                <a:spcPts val="600"/>
              </a:spcAft>
              <a:defRPr sz="1300">
                <a:solidFill>
                  <a:srgbClr val="F8FAFC"/>
                </a:solidFill>
                <a:latin typeface="Calibri"/>
              </a:defRPr>
            </a:pPr>
            <a:r>
              <a:t>•  Medical history sharing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97280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94A3B8"/>
                </a:solidFill>
                <a:latin typeface="Calibri"/>
              </a:defRPr>
            </a:pPr>
            <a:r>
              <a:t>6/14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Calibri"/>
              </a:defRPr>
            </a:pPr>
            <a:r>
              <a:t>📊 Health Tracking &amp; Analytics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051560"/>
            <a:ext cx="1097280" cy="63500"/>
          </a:xfrm>
          <a:prstGeom prst="roundRect">
            <a:avLst>
              <a:gd name="adj" fmla="val 50000"/>
            </a:avLst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23444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94A3B8"/>
                </a:solidFill>
                <a:latin typeface="Calibri"/>
              </a:defRPr>
            </a:pPr>
            <a:r>
              <a:t>Data-driven health insights and gamification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828800"/>
            <a:ext cx="3383280" cy="329184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005840" y="1965960"/>
            <a:ext cx="548640" cy="50800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057400"/>
            <a:ext cx="2834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2563EB"/>
                </a:solidFill>
                <a:latin typeface="Calibri"/>
              </a:defRPr>
            </a:pPr>
            <a:r>
              <a:t>Health Trackers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468880"/>
            <a:ext cx="283464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>
                <a:solidFill>
                  <a:srgbClr val="F8FAFC"/>
                </a:solidFill>
                <a:latin typeface="Calibri"/>
              </a:defRPr>
            </a:pPr>
            <a:r>
              <a:t>•  Water intake (daily glasses)</a:t>
            </a:r>
          </a:p>
          <a:p>
            <a:pPr>
              <a:spcAft>
                <a:spcPts val="600"/>
              </a:spcAft>
              <a:defRPr sz="1300">
                <a:solidFill>
                  <a:srgbClr val="F8FAFC"/>
                </a:solidFill>
                <a:latin typeface="Calibri"/>
              </a:defRPr>
            </a:pPr>
            <a:r>
              <a:t>•  Sleep quality &amp; duration</a:t>
            </a:r>
          </a:p>
          <a:p>
            <a:pPr>
              <a:spcAft>
                <a:spcPts val="600"/>
              </a:spcAft>
              <a:defRPr sz="1300">
                <a:solidFill>
                  <a:srgbClr val="F8FAFC"/>
                </a:solidFill>
                <a:latin typeface="Calibri"/>
              </a:defRPr>
            </a:pPr>
            <a:r>
              <a:t>•  Vitals: heart rate, BP, blood sugar</a:t>
            </a:r>
          </a:p>
          <a:p>
            <a:pPr>
              <a:spcAft>
                <a:spcPts val="600"/>
              </a:spcAft>
              <a:defRPr sz="1300">
                <a:solidFill>
                  <a:srgbClr val="F8FAFC"/>
                </a:solidFill>
                <a:latin typeface="Calibri"/>
              </a:defRPr>
            </a:pPr>
            <a:r>
              <a:t>•  Steps &amp; calories tracking</a:t>
            </a:r>
          </a:p>
          <a:p>
            <a:pPr>
              <a:spcAft>
                <a:spcPts val="600"/>
              </a:spcAft>
              <a:defRPr sz="1300">
                <a:solidFill>
                  <a:srgbClr val="F8FAFC"/>
                </a:solidFill>
                <a:latin typeface="Calibri"/>
              </a:defRPr>
            </a:pPr>
            <a:r>
              <a:t>•  BMI / BMR calculators</a:t>
            </a:r>
          </a:p>
          <a:p>
            <a:pPr>
              <a:spcAft>
                <a:spcPts val="600"/>
              </a:spcAft>
              <a:defRPr sz="1300">
                <a:solidFill>
                  <a:srgbClr val="F8FAFC"/>
                </a:solidFill>
                <a:latin typeface="Calibri"/>
              </a:defRPr>
            </a:pPr>
            <a:r>
              <a:t>•  Voice-command data entry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89120" y="1828800"/>
            <a:ext cx="3383280" cy="329184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 w="1270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4663440" y="1965960"/>
            <a:ext cx="548640" cy="50800"/>
          </a:xfrm>
          <a:prstGeom prst="roundRect">
            <a:avLst>
              <a:gd name="adj" fmla="val 50000"/>
            </a:avLst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663440" y="2057400"/>
            <a:ext cx="2834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6B6D4"/>
                </a:solidFill>
                <a:latin typeface="Calibri"/>
              </a:defRPr>
            </a:pPr>
            <a:r>
              <a:t>Analytics Engine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63440" y="2468880"/>
            <a:ext cx="283464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>
                <a:solidFill>
                  <a:srgbClr val="F8FAFC"/>
                </a:solidFill>
                <a:latin typeface="Calibri"/>
              </a:defRPr>
            </a:pPr>
            <a:r>
              <a:t>•  Health timeline visualization</a:t>
            </a:r>
          </a:p>
          <a:p>
            <a:pPr>
              <a:spcAft>
                <a:spcPts val="600"/>
              </a:spcAft>
              <a:defRPr sz="1300">
                <a:solidFill>
                  <a:srgbClr val="F8FAFC"/>
                </a:solidFill>
                <a:latin typeface="Calibri"/>
              </a:defRPr>
            </a:pPr>
            <a:r>
              <a:t>•  Interactive charts &amp; graphs</a:t>
            </a:r>
          </a:p>
          <a:p>
            <a:pPr>
              <a:spcAft>
                <a:spcPts val="600"/>
              </a:spcAft>
              <a:defRPr sz="1300">
                <a:solidFill>
                  <a:srgbClr val="F8FAFC"/>
                </a:solidFill>
                <a:latin typeface="Calibri"/>
              </a:defRPr>
            </a:pPr>
            <a:r>
              <a:t>•  Risk assessment scoring</a:t>
            </a:r>
          </a:p>
          <a:p>
            <a:pPr>
              <a:spcAft>
                <a:spcPts val="600"/>
              </a:spcAft>
              <a:defRPr sz="1300">
                <a:solidFill>
                  <a:srgbClr val="F8FAFC"/>
                </a:solidFill>
                <a:latin typeface="Calibri"/>
              </a:defRPr>
            </a:pPr>
            <a:r>
              <a:t>•  Predictive health analytics</a:t>
            </a:r>
          </a:p>
          <a:p>
            <a:pPr>
              <a:spcAft>
                <a:spcPts val="600"/>
              </a:spcAft>
              <a:defRPr sz="1300">
                <a:solidFill>
                  <a:srgbClr val="F8FAFC"/>
                </a:solidFill>
                <a:latin typeface="Calibri"/>
              </a:defRPr>
            </a:pPr>
            <a:r>
              <a:t>•  Trend analysis over time</a:t>
            </a:r>
          </a:p>
          <a:p>
            <a:pPr>
              <a:spcAft>
                <a:spcPts val="600"/>
              </a:spcAft>
              <a:defRPr sz="1300">
                <a:solidFill>
                  <a:srgbClr val="F8FAFC"/>
                </a:solidFill>
                <a:latin typeface="Calibri"/>
              </a:defRPr>
            </a:pPr>
            <a:r>
              <a:t>•  Data export capabilities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46720" y="1828800"/>
            <a:ext cx="3383280" cy="329184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8321040" y="1965960"/>
            <a:ext cx="548640" cy="50800"/>
          </a:xfrm>
          <a:prstGeom prst="roundRect">
            <a:avLst>
              <a:gd name="adj" fmla="val 50000"/>
            </a:avLst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321040" y="2057400"/>
            <a:ext cx="2834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59E0B"/>
                </a:solidFill>
                <a:latin typeface="Calibri"/>
              </a:defRPr>
            </a:pPr>
            <a:r>
              <a:t>Gamification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21040" y="2468880"/>
            <a:ext cx="283464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>
                <a:solidFill>
                  <a:srgbClr val="F8FAFC"/>
                </a:solidFill>
                <a:latin typeface="Calibri"/>
              </a:defRPr>
            </a:pPr>
            <a:r>
              <a:t>•  Daily health challenges</a:t>
            </a:r>
          </a:p>
          <a:p>
            <a:pPr>
              <a:spcAft>
                <a:spcPts val="600"/>
              </a:spcAft>
              <a:defRPr sz="1300">
                <a:solidFill>
                  <a:srgbClr val="F8FAFC"/>
                </a:solidFill>
                <a:latin typeface="Calibri"/>
              </a:defRPr>
            </a:pPr>
            <a:r>
              <a:t>•  Progress tracking bars</a:t>
            </a:r>
          </a:p>
          <a:p>
            <a:pPr>
              <a:spcAft>
                <a:spcPts val="600"/>
              </a:spcAft>
              <a:defRPr sz="1300">
                <a:solidFill>
                  <a:srgbClr val="F8FAFC"/>
                </a:solidFill>
                <a:latin typeface="Calibri"/>
              </a:defRPr>
            </a:pPr>
            <a:r>
              <a:t>•  Streak tracking system</a:t>
            </a:r>
          </a:p>
          <a:p>
            <a:pPr>
              <a:spcAft>
                <a:spcPts val="600"/>
              </a:spcAft>
              <a:defRPr sz="1300">
                <a:solidFill>
                  <a:srgbClr val="F8FAFC"/>
                </a:solidFill>
                <a:latin typeface="Calibri"/>
              </a:defRPr>
            </a:pPr>
            <a:r>
              <a:t>•  Achievement badges</a:t>
            </a:r>
          </a:p>
          <a:p>
            <a:pPr>
              <a:spcAft>
                <a:spcPts val="600"/>
              </a:spcAft>
              <a:defRPr sz="1300">
                <a:solidFill>
                  <a:srgbClr val="F8FAFC"/>
                </a:solidFill>
                <a:latin typeface="Calibri"/>
              </a:defRPr>
            </a:pPr>
            <a:r>
              <a:t>•  Task completion rewards</a:t>
            </a:r>
          </a:p>
          <a:p>
            <a:pPr>
              <a:spcAft>
                <a:spcPts val="600"/>
              </a:spcAft>
              <a:defRPr sz="1300">
                <a:solidFill>
                  <a:srgbClr val="F8FAFC"/>
                </a:solidFill>
                <a:latin typeface="Calibri"/>
              </a:defRPr>
            </a:pPr>
            <a:r>
              <a:t>•  Engagement-driven design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1520" y="5303520"/>
            <a:ext cx="10515600" cy="1005840"/>
          </a:xfrm>
          <a:prstGeom prst="roundRect">
            <a:avLst>
              <a:gd name="adj" fmla="val 5000"/>
            </a:avLst>
          </a:prstGeom>
          <a:solidFill>
            <a:srgbClr val="1B2435"/>
          </a:solidFill>
          <a:ln w="12700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05840" y="539496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22C55E"/>
                </a:solidFill>
                <a:latin typeface="Calibri"/>
              </a:defRPr>
            </a:pPr>
            <a:r>
              <a:t>⌚ Wearable Integration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05840" y="5760720"/>
            <a:ext cx="9875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8FAFC"/>
                </a:solidFill>
                <a:latin typeface="Calibri"/>
              </a:defRPr>
            </a:pPr>
            <a:r>
              <a:t>Fitbit OAuth integration  ·  Auto-sync steps, heart rate &amp; calories  ·  Token refresh handling  ·  Connected device management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97280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94A3B8"/>
                </a:solidFill>
                <a:latin typeface="Calibri"/>
              </a:defRPr>
            </a:pPr>
            <a:r>
              <a:t>7/14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Calibri"/>
              </a:defRPr>
            </a:pPr>
            <a:r>
              <a:t>🤖 AI Integration — Groq Llama 3.3 70B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051560"/>
            <a:ext cx="1097280" cy="63500"/>
          </a:xfrm>
          <a:prstGeom prst="roundRect">
            <a:avLst>
              <a:gd name="adj" fmla="val 50000"/>
            </a:avLst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23444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94A3B8"/>
                </a:solidFill>
                <a:latin typeface="Calibri"/>
              </a:defRPr>
            </a:pPr>
            <a:r>
              <a:t>Five specialized AI modules powered by large language models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828800"/>
            <a:ext cx="1965960" cy="329184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 w="12700">
            <a:solidFill>
              <a:srgbClr val="60A5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005840" y="1965960"/>
            <a:ext cx="548640" cy="50800"/>
          </a:xfrm>
          <a:prstGeom prst="roundRect">
            <a:avLst>
              <a:gd name="adj" fmla="val 50000"/>
            </a:avLst>
          </a:prstGeom>
          <a:solidFill>
            <a:srgbClr val="60A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057400"/>
            <a:ext cx="1417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60A5FA"/>
                </a:solidFill>
                <a:latin typeface="Calibri"/>
              </a:defRPr>
            </a:pPr>
            <a:r>
              <a:t>💬 AI Chat Assistant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468880"/>
            <a:ext cx="141732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>
                <a:solidFill>
                  <a:srgbClr val="F8FAFC"/>
                </a:solidFill>
                <a:latin typeface="Calibri"/>
              </a:defRPr>
            </a:pPr>
            <a:r>
              <a:t>•  Context-aware health conversations</a:t>
            </a:r>
          </a:p>
          <a:p>
            <a:pPr>
              <a:spcAft>
                <a:spcPts val="600"/>
              </a:spcAft>
              <a:defRPr sz="1300">
                <a:solidFill>
                  <a:srgbClr val="F8FAFC"/>
                </a:solidFill>
                <a:latin typeface="Calibri"/>
              </a:defRPr>
            </a:pPr>
            <a:r>
              <a:t>•  User profile injection (age, conditions, allergies)</a:t>
            </a:r>
          </a:p>
          <a:p>
            <a:pPr>
              <a:spcAft>
                <a:spcPts val="600"/>
              </a:spcAft>
              <a:defRPr sz="1300">
                <a:solidFill>
                  <a:srgbClr val="F8FAFC"/>
                </a:solidFill>
                <a:latin typeface="Calibri"/>
              </a:defRPr>
            </a:pPr>
            <a:r>
              <a:t>•  Chat history persistence</a:t>
            </a:r>
          </a:p>
          <a:p>
            <a:pPr>
              <a:spcAft>
                <a:spcPts val="600"/>
              </a:spcAft>
              <a:defRPr sz="1300">
                <a:solidFill>
                  <a:srgbClr val="F8FAFC"/>
                </a:solidFill>
                <a:latin typeface="Calibri"/>
              </a:defRPr>
            </a:pPr>
            <a:r>
              <a:t>•  Daily health tips generation</a:t>
            </a:r>
          </a:p>
          <a:p>
            <a:pPr>
              <a:spcAft>
                <a:spcPts val="600"/>
              </a:spcAft>
              <a:defRPr sz="1300">
                <a:solidFill>
                  <a:srgbClr val="F8FAFC"/>
                </a:solidFill>
                <a:latin typeface="Calibri"/>
              </a:defRPr>
            </a:pPr>
            <a:r>
              <a:t>•  Separate RAG chatbot (Pinecone + Flask)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880360" y="1828800"/>
            <a:ext cx="1965960" cy="329184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 w="1270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3154680" y="1965960"/>
            <a:ext cx="548640" cy="50800"/>
          </a:xfrm>
          <a:prstGeom prst="roundRect">
            <a:avLst>
              <a:gd name="adj" fmla="val 50000"/>
            </a:avLst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154680" y="2057400"/>
            <a:ext cx="1417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EF4444"/>
                </a:solidFill>
                <a:latin typeface="Calibri"/>
              </a:defRPr>
            </a:pPr>
            <a:r>
              <a:t>🔍 Symptom Analyzer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154680" y="2468880"/>
            <a:ext cx="141732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>
                <a:solidFill>
                  <a:srgbClr val="F8FAFC"/>
                </a:solidFill>
                <a:latin typeface="Calibri"/>
              </a:defRPr>
            </a:pPr>
            <a:r>
              <a:t>•  Multi-symptom analysis</a:t>
            </a:r>
          </a:p>
          <a:p>
            <a:pPr>
              <a:spcAft>
                <a:spcPts val="600"/>
              </a:spcAft>
              <a:defRPr sz="1300">
                <a:solidFill>
                  <a:srgbClr val="F8FAFC"/>
                </a:solidFill>
                <a:latin typeface="Calibri"/>
              </a:defRPr>
            </a:pPr>
            <a:r>
              <a:t>•  Duration &amp; severity weighting</a:t>
            </a:r>
          </a:p>
          <a:p>
            <a:pPr>
              <a:spcAft>
                <a:spcPts val="600"/>
              </a:spcAft>
              <a:defRPr sz="1300">
                <a:solidFill>
                  <a:srgbClr val="F8FAFC"/>
                </a:solidFill>
                <a:latin typeface="Calibri"/>
              </a:defRPr>
            </a:pPr>
            <a:r>
              <a:t>•  Condition probability scoring</a:t>
            </a:r>
          </a:p>
          <a:p>
            <a:pPr>
              <a:spcAft>
                <a:spcPts val="600"/>
              </a:spcAft>
              <a:defRPr sz="1300">
                <a:solidFill>
                  <a:srgbClr val="F8FAFC"/>
                </a:solidFill>
                <a:latin typeface="Calibri"/>
              </a:defRPr>
            </a:pPr>
            <a:r>
              <a:t>•  Specialist recommendations</a:t>
            </a:r>
          </a:p>
          <a:p>
            <a:pPr>
              <a:spcAft>
                <a:spcPts val="600"/>
              </a:spcAft>
              <a:defRPr sz="1300">
                <a:solidFill>
                  <a:srgbClr val="F8FAFC"/>
                </a:solidFill>
                <a:latin typeface="Calibri"/>
              </a:defRPr>
            </a:pPr>
            <a:r>
              <a:t>•  Hardcoded fallback dictionary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029200" y="1828800"/>
            <a:ext cx="1965960" cy="329184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 w="12700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5303520" y="1965960"/>
            <a:ext cx="548640" cy="50800"/>
          </a:xfrm>
          <a:prstGeom prst="roundRect">
            <a:avLst>
              <a:gd name="adj" fmla="val 50000"/>
            </a:avLst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303520" y="2057400"/>
            <a:ext cx="1417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22C55E"/>
                </a:solidFill>
                <a:latin typeface="Calibri"/>
              </a:defRPr>
            </a:pPr>
            <a:r>
              <a:t>🥗 AI Nutritionist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303520" y="2468880"/>
            <a:ext cx="141732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>
                <a:solidFill>
                  <a:srgbClr val="F8FAFC"/>
                </a:solidFill>
                <a:latin typeface="Calibri"/>
              </a:defRPr>
            </a:pPr>
            <a:r>
              <a:t>•  Personalized meal planning</a:t>
            </a:r>
          </a:p>
          <a:p>
            <a:pPr>
              <a:spcAft>
                <a:spcPts val="600"/>
              </a:spcAft>
              <a:defRPr sz="1300">
                <a:solidFill>
                  <a:srgbClr val="F8FAFC"/>
                </a:solidFill>
                <a:latin typeface="Calibri"/>
              </a:defRPr>
            </a:pPr>
            <a:r>
              <a:t>•  Macro tracking &amp; stats</a:t>
            </a:r>
          </a:p>
          <a:p>
            <a:pPr>
              <a:spcAft>
                <a:spcPts val="600"/>
              </a:spcAft>
              <a:defRPr sz="1300">
                <a:solidFill>
                  <a:srgbClr val="F8FAFC"/>
                </a:solidFill>
                <a:latin typeface="Calibri"/>
              </a:defRPr>
            </a:pPr>
            <a:r>
              <a:t>•  Nutritional recommendations</a:t>
            </a:r>
          </a:p>
          <a:p>
            <a:pPr>
              <a:spcAft>
                <a:spcPts val="600"/>
              </a:spcAft>
              <a:defRPr sz="1300">
                <a:solidFill>
                  <a:srgbClr val="F8FAFC"/>
                </a:solidFill>
                <a:latin typeface="Calibri"/>
              </a:defRPr>
            </a:pPr>
            <a:r>
              <a:t>•  Diet optimization</a:t>
            </a:r>
          </a:p>
          <a:p>
            <a:pPr>
              <a:spcAft>
                <a:spcPts val="600"/>
              </a:spcAft>
              <a:defRPr sz="1300">
                <a:solidFill>
                  <a:srgbClr val="F8FAFC"/>
                </a:solidFill>
                <a:latin typeface="Calibri"/>
              </a:defRPr>
            </a:pPr>
            <a:r>
              <a:t>•  Calorie-aware suggestions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178040" y="1828800"/>
            <a:ext cx="1965960" cy="329184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7452360" y="1965960"/>
            <a:ext cx="548640" cy="50800"/>
          </a:xfrm>
          <a:prstGeom prst="roundRect">
            <a:avLst>
              <a:gd name="adj" fmla="val 50000"/>
            </a:avLst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452360" y="2057400"/>
            <a:ext cx="1417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59E0B"/>
                </a:solidFill>
                <a:latin typeface="Calibri"/>
              </a:defRPr>
            </a:pPr>
            <a:r>
              <a:t>💪 AI Fitness Coach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452360" y="2468880"/>
            <a:ext cx="141732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>
                <a:solidFill>
                  <a:srgbClr val="F8FAFC"/>
                </a:solidFill>
                <a:latin typeface="Calibri"/>
              </a:defRPr>
            </a:pPr>
            <a:r>
              <a:t>•  Custom workout generation</a:t>
            </a:r>
          </a:p>
          <a:p>
            <a:pPr>
              <a:spcAft>
                <a:spcPts val="600"/>
              </a:spcAft>
              <a:defRPr sz="1300">
                <a:solidFill>
                  <a:srgbClr val="F8FAFC"/>
                </a:solidFill>
                <a:latin typeface="Calibri"/>
              </a:defRPr>
            </a:pPr>
            <a:r>
              <a:t>•  Weekly fitness planning</a:t>
            </a:r>
          </a:p>
          <a:p>
            <a:pPr>
              <a:spcAft>
                <a:spcPts val="600"/>
              </a:spcAft>
              <a:defRPr sz="1300">
                <a:solidFill>
                  <a:srgbClr val="F8FAFC"/>
                </a:solidFill>
                <a:latin typeface="Calibri"/>
              </a:defRPr>
            </a:pPr>
            <a:r>
              <a:t>•  Step tracking integration</a:t>
            </a:r>
          </a:p>
          <a:p>
            <a:pPr>
              <a:spcAft>
                <a:spcPts val="600"/>
              </a:spcAft>
              <a:defRPr sz="1300">
                <a:solidFill>
                  <a:srgbClr val="F8FAFC"/>
                </a:solidFill>
                <a:latin typeface="Calibri"/>
              </a:defRPr>
            </a:pPr>
            <a:r>
              <a:t>•  Fitness statistics</a:t>
            </a:r>
          </a:p>
          <a:p>
            <a:pPr>
              <a:spcAft>
                <a:spcPts val="600"/>
              </a:spcAft>
              <a:defRPr sz="1300">
                <a:solidFill>
                  <a:srgbClr val="F8FAFC"/>
                </a:solidFill>
                <a:latin typeface="Calibri"/>
              </a:defRPr>
            </a:pPr>
            <a:r>
              <a:t>•  Voice intent logging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326880" y="1828800"/>
            <a:ext cx="1965960" cy="329184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 w="1270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9601200" y="1965960"/>
            <a:ext cx="548640" cy="50800"/>
          </a:xfrm>
          <a:prstGeom prst="roundRect">
            <a:avLst>
              <a:gd name="adj" fmla="val 50000"/>
            </a:avLst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601200" y="2057400"/>
            <a:ext cx="1417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8B5CF6"/>
                </a:solidFill>
                <a:latin typeface="Calibri"/>
              </a:defRPr>
            </a:pPr>
            <a:r>
              <a:t>🧘 AI Mental Health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601200" y="2468880"/>
            <a:ext cx="141732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>
                <a:solidFill>
                  <a:srgbClr val="F8FAFC"/>
                </a:solidFill>
                <a:latin typeface="Calibri"/>
              </a:defRPr>
            </a:pPr>
            <a:r>
              <a:t>•  Mood tracking &amp; logging</a:t>
            </a:r>
          </a:p>
          <a:p>
            <a:pPr>
              <a:spcAft>
                <a:spcPts val="600"/>
              </a:spcAft>
              <a:defRPr sz="1300">
                <a:solidFill>
                  <a:srgbClr val="F8FAFC"/>
                </a:solidFill>
                <a:latin typeface="Calibri"/>
              </a:defRPr>
            </a:pPr>
            <a:r>
              <a:t>•  AI-assisted journaling</a:t>
            </a:r>
          </a:p>
          <a:p>
            <a:pPr>
              <a:spcAft>
                <a:spcPts val="600"/>
              </a:spcAft>
              <a:defRPr sz="1300">
                <a:solidFill>
                  <a:srgbClr val="F8FAFC"/>
                </a:solidFill>
                <a:latin typeface="Calibri"/>
              </a:defRPr>
            </a:pPr>
            <a:r>
              <a:t>•  Stress level analysis</a:t>
            </a:r>
          </a:p>
          <a:p>
            <a:pPr>
              <a:spcAft>
                <a:spcPts val="600"/>
              </a:spcAft>
              <a:defRPr sz="1300">
                <a:solidFill>
                  <a:srgbClr val="F8FAFC"/>
                </a:solidFill>
                <a:latin typeface="Calibri"/>
              </a:defRPr>
            </a:pPr>
            <a:r>
              <a:t>•  Psychological screening</a:t>
            </a:r>
          </a:p>
          <a:p>
            <a:pPr>
              <a:spcAft>
                <a:spcPts val="600"/>
              </a:spcAft>
              <a:defRPr sz="1300">
                <a:solidFill>
                  <a:srgbClr val="F8FAFC"/>
                </a:solidFill>
                <a:latin typeface="Calibri"/>
              </a:defRPr>
            </a:pPr>
            <a:r>
              <a:t>•  Mental wellness tips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31520" y="5394960"/>
            <a:ext cx="10515600" cy="914400"/>
          </a:xfrm>
          <a:prstGeom prst="roundRect">
            <a:avLst>
              <a:gd name="adj" fmla="val 5000"/>
            </a:avLst>
          </a:prstGeom>
          <a:solidFill>
            <a:srgbClr val="1B2435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005840" y="5468112"/>
            <a:ext cx="9875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60A5FA"/>
                </a:solidFill>
                <a:latin typeface="Calibri"/>
              </a:defRPr>
            </a:pPr>
            <a:r>
              <a:t>📄 AI PDF Parsing — Medical Report Intelligence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05840" y="5806440"/>
            <a:ext cx="9875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8FAFC"/>
                </a:solidFill>
                <a:latin typeface="Calibri"/>
              </a:defRPr>
            </a:pPr>
            <a:r>
              <a:t>PyMuPDF text extraction  →  Groq AI metric extraction  →  Auto health-entry creation  →  AI-powered record comparison between reports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97280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94A3B8"/>
                </a:solidFill>
                <a:latin typeface="Calibri"/>
              </a:defRPr>
            </a:pPr>
            <a:r>
              <a:t>8/14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Calibri"/>
              </a:defRPr>
            </a:pPr>
            <a:r>
              <a:t>📡 API Modules — 80+ Endpoints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051560"/>
            <a:ext cx="1097280" cy="63500"/>
          </a:xfrm>
          <a:prstGeom prst="roundRect">
            <a:avLst>
              <a:gd name="adj" fmla="val 50000"/>
            </a:avLst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23444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94A3B8"/>
                </a:solidFill>
                <a:latin typeface="Calibri"/>
              </a:defRPr>
            </a:pPr>
            <a:r>
              <a:t>RESTful API architecture with Swagger documentation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737360"/>
            <a:ext cx="10515600" cy="411480"/>
          </a:xfrm>
          <a:prstGeom prst="roundRect">
            <a:avLst>
              <a:gd name="adj" fmla="val 5000"/>
            </a:avLst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755648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Calibri"/>
              </a:defRPr>
            </a:pPr>
            <a:r>
              <a:t>Module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40480" y="1755648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Calibri"/>
              </a:defRPr>
            </a:pPr>
            <a:r>
              <a:t>Prefix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0" y="1755648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Calibri"/>
              </a:defRPr>
            </a:pPr>
            <a:r>
              <a:t>Key Endpoints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2194560"/>
            <a:ext cx="10515600" cy="27432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219456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Calibri"/>
              </a:defRPr>
            </a:pPr>
            <a:r>
              <a:t>Authentication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840480" y="2194560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06B6D4"/>
                </a:solidFill>
                <a:latin typeface="Calibri"/>
              </a:defRPr>
            </a:pPr>
            <a:r>
              <a:t>/api/v1/auth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0" y="2194560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Calibri"/>
              </a:defRPr>
            </a:pPr>
            <a:r>
              <a:t>register, login, refresh, logout, 2FA, OAuth, face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2494280"/>
            <a:ext cx="10515600" cy="274320"/>
          </a:xfrm>
          <a:prstGeom prst="roundRect">
            <a:avLst>
              <a:gd name="adj" fmla="val 5000"/>
            </a:avLst>
          </a:prstGeom>
          <a:solidFill>
            <a:srgbClr val="1B24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4400" y="249428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Calibri"/>
              </a:defRPr>
            </a:pPr>
            <a:r>
              <a:t>Users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840480" y="2494280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06B6D4"/>
                </a:solidFill>
                <a:latin typeface="Calibri"/>
              </a:defRPr>
            </a:pPr>
            <a:r>
              <a:t>/api/v1/users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58000" y="2494280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Calibri"/>
              </a:defRPr>
            </a:pPr>
            <a:r>
              <a:t>profile, settings, data export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1520" y="2794000"/>
            <a:ext cx="10515600" cy="27432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279400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Calibri"/>
              </a:defRPr>
            </a:pPr>
            <a:r>
              <a:t>Dashboard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840480" y="2794000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06B6D4"/>
                </a:solidFill>
                <a:latin typeface="Calibri"/>
              </a:defRPr>
            </a:pPr>
            <a:r>
              <a:t>/api/v1/dashboard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0" y="2794000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Calibri"/>
              </a:defRPr>
            </a:pPr>
            <a:r>
              <a:t>summary, health-score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31520" y="3093720"/>
            <a:ext cx="10515600" cy="274320"/>
          </a:xfrm>
          <a:prstGeom prst="roundRect">
            <a:avLst>
              <a:gd name="adj" fmla="val 5000"/>
            </a:avLst>
          </a:prstGeom>
          <a:solidFill>
            <a:srgbClr val="1B24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14400" y="309372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Calibri"/>
              </a:defRPr>
            </a:pPr>
            <a:r>
              <a:t>Medical Records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840480" y="3093720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06B6D4"/>
                </a:solidFill>
                <a:latin typeface="Calibri"/>
              </a:defRPr>
            </a:pPr>
            <a:r>
              <a:t>/api/v1/records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58000" y="3093720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Calibri"/>
              </a:defRPr>
            </a:pPr>
            <a:r>
              <a:t>CRUD + file upload + AI summary + compare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31520" y="3393440"/>
            <a:ext cx="10515600" cy="27432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14400" y="339344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Calibri"/>
              </a:defRPr>
            </a:pPr>
            <a:r>
              <a:t>Medicines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840480" y="3393440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06B6D4"/>
                </a:solidFill>
                <a:latin typeface="Calibri"/>
              </a:defRPr>
            </a:pPr>
            <a:r>
              <a:t>/api/v1/medicines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858000" y="3393440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Calibri"/>
              </a:defRPr>
            </a:pPr>
            <a:r>
              <a:t>CRUD + interactions + refill reminders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31520" y="3693160"/>
            <a:ext cx="10515600" cy="274320"/>
          </a:xfrm>
          <a:prstGeom prst="roundRect">
            <a:avLst>
              <a:gd name="adj" fmla="val 5000"/>
            </a:avLst>
          </a:prstGeom>
          <a:solidFill>
            <a:srgbClr val="1B24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14400" y="369316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Calibri"/>
              </a:defRPr>
            </a:pPr>
            <a:r>
              <a:t>Appointments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840480" y="3693160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06B6D4"/>
                </a:solidFill>
                <a:latin typeface="Calibri"/>
              </a:defRPr>
            </a:pPr>
            <a:r>
              <a:t>/api/v1/appointments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858000" y="3693160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Calibri"/>
              </a:defRPr>
            </a:pPr>
            <a:r>
              <a:t>CRUD + AI prep notes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731520" y="3992880"/>
            <a:ext cx="10515600" cy="27432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14400" y="399288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Calibri"/>
              </a:defRPr>
            </a:pPr>
            <a:r>
              <a:t>Emergency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840480" y="3992880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06B6D4"/>
                </a:solidFill>
                <a:latin typeface="Calibri"/>
              </a:defRPr>
            </a:pPr>
            <a:r>
              <a:t>/api/v1/emergency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858000" y="3992880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Calibri"/>
              </a:defRPr>
            </a:pPr>
            <a:r>
              <a:t>contacts, SOS, QR data, organ donor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731520" y="4292600"/>
            <a:ext cx="10515600" cy="274320"/>
          </a:xfrm>
          <a:prstGeom prst="roundRect">
            <a:avLst>
              <a:gd name="adj" fmla="val 5000"/>
            </a:avLst>
          </a:prstGeom>
          <a:solidFill>
            <a:srgbClr val="1B24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14400" y="429260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Calibri"/>
              </a:defRPr>
            </a:pPr>
            <a:r>
              <a:t>Family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840480" y="4292600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06B6D4"/>
                </a:solidFill>
                <a:latin typeface="Calibri"/>
              </a:defRPr>
            </a:pPr>
            <a:r>
              <a:t>/api/v1/family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858000" y="4292600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Calibri"/>
              </a:defRPr>
            </a:pPr>
            <a:r>
              <a:t>members + vaccination records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731520" y="4592320"/>
            <a:ext cx="10515600" cy="27432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914400" y="459232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Calibri"/>
              </a:defRPr>
            </a:pPr>
            <a:r>
              <a:t>Trackers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3840480" y="4592320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06B6D4"/>
                </a:solidFill>
                <a:latin typeface="Calibri"/>
              </a:defRPr>
            </a:pPr>
            <a:r>
              <a:t>/api/v1/trackers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858000" y="4592320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Calibri"/>
              </a:defRPr>
            </a:pPr>
            <a:r>
              <a:t>water, sleep, health metrics, BMI, voice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731520" y="4892040"/>
            <a:ext cx="10515600" cy="274320"/>
          </a:xfrm>
          <a:prstGeom prst="roundRect">
            <a:avLst>
              <a:gd name="adj" fmla="val 5000"/>
            </a:avLst>
          </a:prstGeom>
          <a:solidFill>
            <a:srgbClr val="1B24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914400" y="489204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Calibri"/>
              </a:defRPr>
            </a:pPr>
            <a:r>
              <a:t>Expenses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3840480" y="4892040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06B6D4"/>
                </a:solidFill>
                <a:latin typeface="Calibri"/>
              </a:defRPr>
            </a:pPr>
            <a:r>
              <a:t>/api/v1/expenses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858000" y="4892040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Calibri"/>
              </a:defRPr>
            </a:pPr>
            <a:r>
              <a:t>CRUD + category summaries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731520" y="5191760"/>
            <a:ext cx="10515600" cy="27432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914400" y="519176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Calibri"/>
              </a:defRPr>
            </a:pPr>
            <a:r>
              <a:t>Challenges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3840480" y="5191760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06B6D4"/>
                </a:solidFill>
                <a:latin typeface="Calibri"/>
              </a:defRPr>
            </a:pPr>
            <a:r>
              <a:t>/api/v1/challenges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858000" y="5191760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Calibri"/>
              </a:defRPr>
            </a:pPr>
            <a:r>
              <a:t>progress, complete, streak, badges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731520" y="5491480"/>
            <a:ext cx="10515600" cy="274320"/>
          </a:xfrm>
          <a:prstGeom prst="roundRect">
            <a:avLst>
              <a:gd name="adj" fmla="val 5000"/>
            </a:avLst>
          </a:prstGeom>
          <a:solidFill>
            <a:srgbClr val="1B24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914400" y="549148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Calibri"/>
              </a:defRPr>
            </a:pPr>
            <a:r>
              <a:t>Analytics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3840480" y="5491480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06B6D4"/>
                </a:solidFill>
                <a:latin typeface="Calibri"/>
              </a:defRPr>
            </a:pPr>
            <a:r>
              <a:t>/api/v1/analytics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6858000" y="5491480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Calibri"/>
              </a:defRPr>
            </a:pPr>
            <a:r>
              <a:t>timeline, graphs, risk, predictions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731520" y="5791200"/>
            <a:ext cx="10515600" cy="27432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914400" y="579120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Calibri"/>
              </a:defRPr>
            </a:pPr>
            <a:r>
              <a:t>AI Chat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3840480" y="5791200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06B6D4"/>
                </a:solidFill>
                <a:latin typeface="Calibri"/>
              </a:defRPr>
            </a:pPr>
            <a:r>
              <a:t>/api/v1/ai/chat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6858000" y="5791200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Calibri"/>
              </a:defRPr>
            </a:pPr>
            <a:r>
              <a:t>chat, history, daily tips</a:t>
            </a:r>
          </a:p>
        </p:txBody>
      </p:sp>
      <p:sp>
        <p:nvSpPr>
          <p:cNvPr id="61" name="Rounded Rectangle 60"/>
          <p:cNvSpPr/>
          <p:nvPr/>
        </p:nvSpPr>
        <p:spPr>
          <a:xfrm>
            <a:off x="731520" y="6090920"/>
            <a:ext cx="10515600" cy="274320"/>
          </a:xfrm>
          <a:prstGeom prst="roundRect">
            <a:avLst>
              <a:gd name="adj" fmla="val 5000"/>
            </a:avLst>
          </a:prstGeom>
          <a:solidFill>
            <a:srgbClr val="1B24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914400" y="609092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Calibri"/>
              </a:defRPr>
            </a:pPr>
            <a:r>
              <a:t>AI Symptoms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3840480" y="6090920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06B6D4"/>
                </a:solidFill>
                <a:latin typeface="Calibri"/>
              </a:defRPr>
            </a:pPr>
            <a:r>
              <a:t>/api/v1/ai/symptoms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6858000" y="6090920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Calibri"/>
              </a:defRPr>
            </a:pPr>
            <a:r>
              <a:t>multi-symptom analysis</a:t>
            </a:r>
          </a:p>
        </p:txBody>
      </p:sp>
      <p:sp>
        <p:nvSpPr>
          <p:cNvPr id="65" name="Rounded Rectangle 64"/>
          <p:cNvSpPr/>
          <p:nvPr/>
        </p:nvSpPr>
        <p:spPr>
          <a:xfrm>
            <a:off x="731520" y="6390640"/>
            <a:ext cx="10515600" cy="27432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914400" y="639064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Calibri"/>
              </a:defRPr>
            </a:pPr>
            <a:r>
              <a:t>AI Nutrition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3840480" y="6390640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06B6D4"/>
                </a:solidFill>
                <a:latin typeface="Calibri"/>
              </a:defRPr>
            </a:pPr>
            <a:r>
              <a:t>/api/v1/ai/nutrition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6858000" y="6390640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Calibri"/>
              </a:defRPr>
            </a:pPr>
            <a:r>
              <a:t>meal plan, macro stats</a:t>
            </a:r>
          </a:p>
        </p:txBody>
      </p:sp>
      <p:sp>
        <p:nvSpPr>
          <p:cNvPr id="69" name="Rounded Rectangle 68"/>
          <p:cNvSpPr/>
          <p:nvPr/>
        </p:nvSpPr>
        <p:spPr>
          <a:xfrm>
            <a:off x="731520" y="6690360"/>
            <a:ext cx="10515600" cy="274320"/>
          </a:xfrm>
          <a:prstGeom prst="roundRect">
            <a:avLst>
              <a:gd name="adj" fmla="val 5000"/>
            </a:avLst>
          </a:prstGeom>
          <a:solidFill>
            <a:srgbClr val="1B24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914400" y="669036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Calibri"/>
              </a:defRPr>
            </a:pPr>
            <a:r>
              <a:t>AI Fitness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3840480" y="6690360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06B6D4"/>
                </a:solidFill>
                <a:latin typeface="Calibri"/>
              </a:defRPr>
            </a:pPr>
            <a:r>
              <a:t>/api/v1/ai/fitness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6858000" y="6690360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Calibri"/>
              </a:defRPr>
            </a:pPr>
            <a:r>
              <a:t>workouts, weekly plan, step stats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1097280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94A3B8"/>
                </a:solidFill>
                <a:latin typeface="Calibri"/>
              </a:defRPr>
            </a:pPr>
            <a:r>
              <a:t>9/14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Calibri"/>
              </a:defRPr>
            </a:pPr>
            <a:r>
              <a:t>🗄️ Database Schema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051560"/>
            <a:ext cx="1097280" cy="63500"/>
          </a:xfrm>
          <a:prstGeom prst="roundRect">
            <a:avLst>
              <a:gd name="adj" fmla="val 50000"/>
            </a:avLst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23444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94A3B8"/>
                </a:solidFill>
                <a:latin typeface="Calibri"/>
              </a:defRPr>
            </a:pPr>
            <a:r>
              <a:t>11 SQLAlchemy ORM models with PostgreSQL 16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10515600" cy="365760"/>
          </a:xfrm>
          <a:prstGeom prst="roundRect">
            <a:avLst>
              <a:gd name="adj" fmla="val 5000"/>
            </a:avLst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664208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Calibri"/>
              </a:defRPr>
            </a:pPr>
            <a:r>
              <a:t>Table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0" y="1664208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Calibri"/>
              </a:defRPr>
            </a:pPr>
            <a:r>
              <a:t>Purpose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0" y="1664208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Calibri"/>
              </a:defRPr>
            </a:pPr>
            <a:r>
              <a:t>Key Columns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2011680"/>
            <a:ext cx="10515600" cy="345948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2024380"/>
            <a:ext cx="21031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60A5FA"/>
                </a:solidFill>
                <a:latin typeface="Calibri"/>
              </a:defRPr>
            </a:pPr>
            <a:r>
              <a:t>users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00400" y="2024380"/>
            <a:ext cx="21031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8FAFC"/>
                </a:solidFill>
                <a:latin typeface="Calibri"/>
              </a:defRPr>
            </a:pPr>
            <a:r>
              <a:t>Core user identity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0" y="2024380"/>
            <a:ext cx="5486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  <a:latin typeface="Calibri"/>
              </a:defRPr>
            </a:pPr>
            <a:r>
              <a:t>id, email, hashed_password, role, is_active, is_verified, 2FA, face_descriptor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2395728"/>
            <a:ext cx="10515600" cy="345948"/>
          </a:xfrm>
          <a:prstGeom prst="roundRect">
            <a:avLst>
              <a:gd name="adj" fmla="val 5000"/>
            </a:avLst>
          </a:prstGeom>
          <a:solidFill>
            <a:srgbClr val="1B24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4400" y="2408428"/>
            <a:ext cx="21031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60A5FA"/>
                </a:solidFill>
                <a:latin typeface="Calibri"/>
              </a:defRPr>
            </a:pPr>
            <a:r>
              <a:t>user_profiles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200400" y="2408428"/>
            <a:ext cx="21031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8FAFC"/>
                </a:solidFill>
                <a:latin typeface="Calibri"/>
              </a:defRPr>
            </a:pPr>
            <a:r>
              <a:t>Extended profile data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2408428"/>
            <a:ext cx="5486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  <a:latin typeface="Calibri"/>
              </a:defRPr>
            </a:pPr>
            <a:r>
              <a:t>name, age, blood_type, conditions, allergies, fitbit_tokens, avatar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1520" y="2779776"/>
            <a:ext cx="10515600" cy="345948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2792476"/>
            <a:ext cx="21031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60A5FA"/>
                </a:solidFill>
                <a:latin typeface="Calibri"/>
              </a:defRPr>
            </a:pPr>
            <a:r>
              <a:t>medical_records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200400" y="2792476"/>
            <a:ext cx="21031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8FAFC"/>
                </a:solidFill>
                <a:latin typeface="Calibri"/>
              </a:defRPr>
            </a:pPr>
            <a:r>
              <a:t>Patient medical records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0" y="2792476"/>
            <a:ext cx="5486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  <a:latin typeface="Calibri"/>
              </a:defRPr>
            </a:pPr>
            <a:r>
              <a:t>title, category, doctor, hospital, date, findings, file_path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31520" y="3163824"/>
            <a:ext cx="10515600" cy="345948"/>
          </a:xfrm>
          <a:prstGeom prst="roundRect">
            <a:avLst>
              <a:gd name="adj" fmla="val 5000"/>
            </a:avLst>
          </a:prstGeom>
          <a:solidFill>
            <a:srgbClr val="1B24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14400" y="3176524"/>
            <a:ext cx="21031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60A5FA"/>
                </a:solidFill>
                <a:latin typeface="Calibri"/>
              </a:defRPr>
            </a:pPr>
            <a:r>
              <a:t>health_entries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200400" y="3176524"/>
            <a:ext cx="21031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8FAFC"/>
                </a:solidFill>
                <a:latin typeface="Calibri"/>
              </a:defRPr>
            </a:pPr>
            <a:r>
              <a:t>Tracked health metrics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86400" y="3176524"/>
            <a:ext cx="5486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  <a:latin typeface="Calibri"/>
              </a:defRPr>
            </a:pPr>
            <a:r>
              <a:t>category (BP, HR, sugar, weight, steps, calories), value, recorded_at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31520" y="3547872"/>
            <a:ext cx="10515600" cy="345948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14400" y="3560572"/>
            <a:ext cx="21031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60A5FA"/>
                </a:solidFill>
                <a:latin typeface="Calibri"/>
              </a:defRPr>
            </a:pPr>
            <a:r>
              <a:t>water_intake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200400" y="3560572"/>
            <a:ext cx="21031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8FAFC"/>
                </a:solidFill>
                <a:latin typeface="Calibri"/>
              </a:defRPr>
            </a:pPr>
            <a:r>
              <a:t>Daily hydration log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486400" y="3560572"/>
            <a:ext cx="5486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  <a:latin typeface="Calibri"/>
              </a:defRPr>
            </a:pPr>
            <a:r>
              <a:t>user_id, date, glasses — unique constraint per (user, date)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31520" y="3931920"/>
            <a:ext cx="10515600" cy="345948"/>
          </a:xfrm>
          <a:prstGeom prst="roundRect">
            <a:avLst>
              <a:gd name="adj" fmla="val 5000"/>
            </a:avLst>
          </a:prstGeom>
          <a:solidFill>
            <a:srgbClr val="1B24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14400" y="3944620"/>
            <a:ext cx="21031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60A5FA"/>
                </a:solidFill>
                <a:latin typeface="Calibri"/>
              </a:defRPr>
            </a:pPr>
            <a:r>
              <a:t>sleep_entries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200400" y="3944620"/>
            <a:ext cx="21031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8FAFC"/>
                </a:solidFill>
                <a:latin typeface="Calibri"/>
              </a:defRPr>
            </a:pPr>
            <a:r>
              <a:t>Sleep tracking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486400" y="3944620"/>
            <a:ext cx="5486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  <a:latin typeface="Calibri"/>
              </a:defRPr>
            </a:pPr>
            <a:r>
              <a:t>date, hours, quality, bedtime, wake_time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731520" y="4315968"/>
            <a:ext cx="10515600" cy="345948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14400" y="4328668"/>
            <a:ext cx="21031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60A5FA"/>
                </a:solidFill>
                <a:latin typeface="Calibri"/>
              </a:defRPr>
            </a:pPr>
            <a:r>
              <a:t>chat_messages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200400" y="4328668"/>
            <a:ext cx="21031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8FAFC"/>
                </a:solidFill>
                <a:latin typeface="Calibri"/>
              </a:defRPr>
            </a:pPr>
            <a:r>
              <a:t>AI conversation history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486400" y="4328668"/>
            <a:ext cx="5486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  <a:latin typeface="Calibri"/>
              </a:defRPr>
            </a:pPr>
            <a:r>
              <a:t>user_id, role (user/assistant), content, module, created_at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731520" y="4700016"/>
            <a:ext cx="10515600" cy="345948"/>
          </a:xfrm>
          <a:prstGeom prst="roundRect">
            <a:avLst>
              <a:gd name="adj" fmla="val 5000"/>
            </a:avLst>
          </a:prstGeom>
          <a:solidFill>
            <a:srgbClr val="1B24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14400" y="4712716"/>
            <a:ext cx="21031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60A5FA"/>
                </a:solidFill>
                <a:latin typeface="Calibri"/>
              </a:defRPr>
            </a:pPr>
            <a:r>
              <a:t>medical_expenses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200400" y="4712716"/>
            <a:ext cx="21031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8FAFC"/>
                </a:solidFill>
                <a:latin typeface="Calibri"/>
              </a:defRPr>
            </a:pPr>
            <a:r>
              <a:t>Cost tracking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486400" y="4712716"/>
            <a:ext cx="5486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  <a:latin typeface="Calibri"/>
              </a:defRPr>
            </a:pPr>
            <a:r>
              <a:t>description, category (medicine, doctor, tests, insurance), amount, date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731520" y="5084064"/>
            <a:ext cx="10515600" cy="345948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914400" y="5096764"/>
            <a:ext cx="21031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60A5FA"/>
                </a:solidFill>
                <a:latin typeface="Calibri"/>
              </a:defRPr>
            </a:pPr>
            <a:r>
              <a:t>family_members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3200400" y="5096764"/>
            <a:ext cx="21031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8FAFC"/>
                </a:solidFill>
                <a:latin typeface="Calibri"/>
              </a:defRPr>
            </a:pPr>
            <a:r>
              <a:t>Family profiles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486400" y="5096764"/>
            <a:ext cx="5486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  <a:latin typeface="Calibri"/>
              </a:defRPr>
            </a:pPr>
            <a:r>
              <a:t>name, relation, age, blood_type, conditions, medications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731520" y="5468112"/>
            <a:ext cx="10515600" cy="345948"/>
          </a:xfrm>
          <a:prstGeom prst="roundRect">
            <a:avLst>
              <a:gd name="adj" fmla="val 5000"/>
            </a:avLst>
          </a:prstGeom>
          <a:solidFill>
            <a:srgbClr val="1B24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914400" y="5480812"/>
            <a:ext cx="21031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60A5FA"/>
                </a:solidFill>
                <a:latin typeface="Calibri"/>
              </a:defRPr>
            </a:pPr>
            <a:r>
              <a:t>appointments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3200400" y="5480812"/>
            <a:ext cx="21031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8FAFC"/>
                </a:solidFill>
                <a:latin typeface="Calibri"/>
              </a:defRPr>
            </a:pPr>
            <a:r>
              <a:t>Doctor appointments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486400" y="5480812"/>
            <a:ext cx="5486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  <a:latin typeface="Calibri"/>
              </a:defRPr>
            </a:pPr>
            <a:r>
              <a:t>doctor, specialty, hospital, date, time, status, ai_prep_notes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731520" y="5852160"/>
            <a:ext cx="10515600" cy="345948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914400" y="5864860"/>
            <a:ext cx="21031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60A5FA"/>
                </a:solidFill>
                <a:latin typeface="Calibri"/>
              </a:defRPr>
            </a:pPr>
            <a:r>
              <a:t>login_history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3200400" y="5864860"/>
            <a:ext cx="21031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8FAFC"/>
                </a:solidFill>
                <a:latin typeface="Calibri"/>
              </a:defRPr>
            </a:pPr>
            <a:r>
              <a:t>Login audit trail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5486400" y="5864860"/>
            <a:ext cx="5486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  <a:latin typeface="Calibri"/>
              </a:defRPr>
            </a:pPr>
            <a:r>
              <a:t>user_id, ip_address, user_agent, created_at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1097280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94A3B8"/>
                </a:solidFill>
                <a:latin typeface="Calibri"/>
              </a:defRPr>
            </a:pPr>
            <a:r>
              <a:t>10/14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Calibri"/>
              </a:defRPr>
            </a:pPr>
            <a:r>
              <a:t>🎨 Design System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051560"/>
            <a:ext cx="1097280" cy="63500"/>
          </a:xfrm>
          <a:prstGeom prst="roundRect">
            <a:avLst>
              <a:gd name="adj" fmla="val 50000"/>
            </a:avLst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23444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94A3B8"/>
                </a:solidFill>
                <a:latin typeface="Calibri"/>
              </a:defRPr>
            </a:pPr>
            <a:r>
              <a:t>Modern UI 2.1 aesthetic — Glassmorphism + Gradients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82880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Calibri"/>
              </a:defRPr>
            </a:pPr>
            <a:r>
              <a:t>Color Palette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286000"/>
            <a:ext cx="1554480" cy="914400"/>
          </a:xfrm>
          <a:prstGeom prst="roundRect">
            <a:avLst>
              <a:gd name="adj" fmla="val 15000"/>
            </a:avLst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3246120"/>
            <a:ext cx="1554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Primary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474720"/>
            <a:ext cx="15544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94A3B8"/>
                </a:solidFill>
                <a:latin typeface="Calibri"/>
              </a:defRPr>
            </a:pPr>
            <a:r>
              <a:t>#2563EB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423160" y="2286000"/>
            <a:ext cx="1554480" cy="914400"/>
          </a:xfrm>
          <a:prstGeom prst="roundRect">
            <a:avLst>
              <a:gd name="adj" fmla="val 15000"/>
            </a:avLst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423160" y="3246120"/>
            <a:ext cx="1554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Secondary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423160" y="3474720"/>
            <a:ext cx="15544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94A3B8"/>
                </a:solidFill>
                <a:latin typeface="Calibri"/>
              </a:defRPr>
            </a:pPr>
            <a:r>
              <a:t>#06B6D4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114800" y="2286000"/>
            <a:ext cx="1554480" cy="914400"/>
          </a:xfrm>
          <a:prstGeom prst="roundRect">
            <a:avLst>
              <a:gd name="adj" fmla="val 15000"/>
            </a:avLst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114800" y="3246120"/>
            <a:ext cx="1554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Success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14800" y="3474720"/>
            <a:ext cx="15544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94A3B8"/>
                </a:solidFill>
                <a:latin typeface="Calibri"/>
              </a:defRPr>
            </a:pPr>
            <a:r>
              <a:t>#22C55E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806440" y="2286000"/>
            <a:ext cx="1554480" cy="914400"/>
          </a:xfrm>
          <a:prstGeom prst="roundRect">
            <a:avLst>
              <a:gd name="adj" fmla="val 15000"/>
            </a:avLst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806440" y="3246120"/>
            <a:ext cx="1554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Warning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806440" y="3474720"/>
            <a:ext cx="15544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94A3B8"/>
                </a:solidFill>
                <a:latin typeface="Calibri"/>
              </a:defRPr>
            </a:pPr>
            <a:r>
              <a:t>#F59E0B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498080" y="2286000"/>
            <a:ext cx="1554480" cy="914400"/>
          </a:xfrm>
          <a:prstGeom prst="roundRect">
            <a:avLst>
              <a:gd name="adj" fmla="val 15000"/>
            </a:avLst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498080" y="3246120"/>
            <a:ext cx="1554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Danger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498080" y="3474720"/>
            <a:ext cx="15544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94A3B8"/>
                </a:solidFill>
                <a:latin typeface="Calibri"/>
              </a:defRPr>
            </a:pPr>
            <a:r>
              <a:t>#EF4444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189720" y="2286000"/>
            <a:ext cx="1554480" cy="914400"/>
          </a:xfrm>
          <a:prstGeom prst="roundRect">
            <a:avLst>
              <a:gd name="adj" fmla="val 15000"/>
            </a:avLst>
          </a:prstGeom>
          <a:solidFill>
            <a:srgbClr val="3A47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189720" y="3246120"/>
            <a:ext cx="1554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Dark BG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89720" y="3474720"/>
            <a:ext cx="15544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94A3B8"/>
                </a:solidFill>
                <a:latin typeface="Calibri"/>
              </a:defRPr>
            </a:pPr>
            <a:r>
              <a:t>#0F172A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31520" y="3931920"/>
            <a:ext cx="2468880" cy="246888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 w="12700">
            <a:solidFill>
              <a:srgbClr val="60A5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1005840" y="4069080"/>
            <a:ext cx="548640" cy="50800"/>
          </a:xfrm>
          <a:prstGeom prst="roundRect">
            <a:avLst>
              <a:gd name="adj" fmla="val 50000"/>
            </a:avLst>
          </a:prstGeom>
          <a:solidFill>
            <a:srgbClr val="60A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005840" y="4160520"/>
            <a:ext cx="1920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60A5FA"/>
                </a:solidFill>
                <a:latin typeface="Calibri"/>
              </a:defRPr>
            </a:pPr>
            <a:r>
              <a:t>Typography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05840" y="4572000"/>
            <a:ext cx="19202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>
                <a:solidFill>
                  <a:srgbClr val="F8FAFC"/>
                </a:solidFill>
                <a:latin typeface="Calibri"/>
              </a:defRPr>
            </a:pPr>
            <a:r>
              <a:t>•  Primary: Inter font family</a:t>
            </a:r>
          </a:p>
          <a:p>
            <a:pPr>
              <a:spcAft>
                <a:spcPts val="600"/>
              </a:spcAft>
              <a:defRPr sz="1300">
                <a:solidFill>
                  <a:srgbClr val="F8FAFC"/>
                </a:solidFill>
                <a:latin typeface="Calibri"/>
              </a:defRPr>
            </a:pPr>
            <a:r>
              <a:t>•  Headings: Bold 700–800</a:t>
            </a:r>
          </a:p>
          <a:p>
            <a:pPr>
              <a:spcAft>
                <a:spcPts val="600"/>
              </a:spcAft>
              <a:defRPr sz="1300">
                <a:solidFill>
                  <a:srgbClr val="F8FAFC"/>
                </a:solidFill>
                <a:latin typeface="Calibri"/>
              </a:defRPr>
            </a:pPr>
            <a:r>
              <a:t>•  Body: Regular 400–500</a:t>
            </a:r>
          </a:p>
          <a:p>
            <a:pPr>
              <a:spcAft>
                <a:spcPts val="600"/>
              </a:spcAft>
              <a:defRPr sz="1300">
                <a:solidFill>
                  <a:srgbClr val="F8FAFC"/>
                </a:solidFill>
                <a:latin typeface="Calibri"/>
              </a:defRPr>
            </a:pPr>
            <a:r>
              <a:t>•  Base: 16px (1rem)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3447288" y="3931920"/>
            <a:ext cx="2468880" cy="246888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 w="1270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3721608" y="4069080"/>
            <a:ext cx="548640" cy="50800"/>
          </a:xfrm>
          <a:prstGeom prst="roundRect">
            <a:avLst>
              <a:gd name="adj" fmla="val 50000"/>
            </a:avLst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721608" y="4160520"/>
            <a:ext cx="1920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6B6D4"/>
                </a:solidFill>
                <a:latin typeface="Calibri"/>
              </a:defRPr>
            </a:pPr>
            <a:r>
              <a:t>Glassmorphism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721608" y="4572000"/>
            <a:ext cx="19202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>
                <a:solidFill>
                  <a:srgbClr val="F8FAFC"/>
                </a:solidFill>
                <a:latin typeface="Calibri"/>
              </a:defRPr>
            </a:pPr>
            <a:r>
              <a:t>•  blur(16px) backdrop filter</a:t>
            </a:r>
          </a:p>
          <a:p>
            <a:pPr>
              <a:spcAft>
                <a:spcPts val="600"/>
              </a:spcAft>
              <a:defRPr sz="1300">
                <a:solidFill>
                  <a:srgbClr val="F8FAFC"/>
                </a:solidFill>
                <a:latin typeface="Calibri"/>
              </a:defRPr>
            </a:pPr>
            <a:r>
              <a:t>•  Semi-transparent panels</a:t>
            </a:r>
          </a:p>
          <a:p>
            <a:pPr>
              <a:spcAft>
                <a:spcPts val="600"/>
              </a:spcAft>
              <a:defRPr sz="1300">
                <a:solidFill>
                  <a:srgbClr val="F8FAFC"/>
                </a:solidFill>
                <a:latin typeface="Calibri"/>
              </a:defRPr>
            </a:pPr>
            <a:r>
              <a:t>•  Soft layered shadows</a:t>
            </a:r>
          </a:p>
          <a:p>
            <a:pPr>
              <a:spcAft>
                <a:spcPts val="600"/>
              </a:spcAft>
              <a:defRPr sz="1300">
                <a:solidFill>
                  <a:srgbClr val="F8FAFC"/>
                </a:solidFill>
                <a:latin typeface="Calibri"/>
              </a:defRPr>
            </a:pPr>
            <a:r>
              <a:t>•  rgba overlays for depth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163056" y="3931920"/>
            <a:ext cx="2468880" cy="246888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 w="12700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6437376" y="4069080"/>
            <a:ext cx="548640" cy="50800"/>
          </a:xfrm>
          <a:prstGeom prst="roundRect">
            <a:avLst>
              <a:gd name="adj" fmla="val 50000"/>
            </a:avLst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437376" y="4160520"/>
            <a:ext cx="1920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22C55E"/>
                </a:solidFill>
                <a:latin typeface="Calibri"/>
              </a:defRPr>
            </a:pPr>
            <a:r>
              <a:t>Layout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437376" y="4572000"/>
            <a:ext cx="19202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>
                <a:solidFill>
                  <a:srgbClr val="F8FAFC"/>
                </a:solidFill>
                <a:latin typeface="Calibri"/>
              </a:defRPr>
            </a:pPr>
            <a:r>
              <a:t>•  3-column CSS Grid</a:t>
            </a:r>
          </a:p>
          <a:p>
            <a:pPr>
              <a:spcAft>
                <a:spcPts val="600"/>
              </a:spcAft>
              <a:defRPr sz="1300">
                <a:solidFill>
                  <a:srgbClr val="F8FAFC"/>
                </a:solidFill>
                <a:latin typeface="Calibri"/>
              </a:defRPr>
            </a:pPr>
            <a:r>
              <a:t>•  Sidebar: 260px</a:t>
            </a:r>
          </a:p>
          <a:p>
            <a:pPr>
              <a:spcAft>
                <a:spcPts val="600"/>
              </a:spcAft>
              <a:defRPr sz="1300">
                <a:solidFill>
                  <a:srgbClr val="F8FAFC"/>
                </a:solidFill>
                <a:latin typeface="Calibri"/>
              </a:defRPr>
            </a:pPr>
            <a:r>
              <a:t>•  Main content: 1fr</a:t>
            </a:r>
          </a:p>
          <a:p>
            <a:pPr>
              <a:spcAft>
                <a:spcPts val="600"/>
              </a:spcAft>
              <a:defRPr sz="1300">
                <a:solidFill>
                  <a:srgbClr val="F8FAFC"/>
                </a:solidFill>
                <a:latin typeface="Calibri"/>
              </a:defRPr>
            </a:pPr>
            <a:r>
              <a:t>•  Right panel: 320px</a:t>
            </a:r>
          </a:p>
          <a:p>
            <a:pPr>
              <a:spcAft>
                <a:spcPts val="600"/>
              </a:spcAft>
              <a:defRPr sz="1300">
                <a:solidFill>
                  <a:srgbClr val="F8FAFC"/>
                </a:solidFill>
                <a:latin typeface="Calibri"/>
              </a:defRPr>
            </a:pPr>
            <a:r>
              <a:t>•  Max width: 1440px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8878824" y="3931920"/>
            <a:ext cx="2468880" cy="246888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9153144" y="4069080"/>
            <a:ext cx="548640" cy="50800"/>
          </a:xfrm>
          <a:prstGeom prst="roundRect">
            <a:avLst>
              <a:gd name="adj" fmla="val 50000"/>
            </a:avLst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153144" y="4160520"/>
            <a:ext cx="1920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59E0B"/>
                </a:solidFill>
                <a:latin typeface="Calibri"/>
              </a:defRPr>
            </a:pPr>
            <a:r>
              <a:t>Theming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153144" y="4572000"/>
            <a:ext cx="19202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>
                <a:solidFill>
                  <a:srgbClr val="F8FAFC"/>
                </a:solidFill>
                <a:latin typeface="Calibri"/>
              </a:defRPr>
            </a:pPr>
            <a:r>
              <a:t>•  CSS custom properties</a:t>
            </a:r>
          </a:p>
          <a:p>
            <a:pPr>
              <a:spcAft>
                <a:spcPts val="600"/>
              </a:spcAft>
              <a:defRPr sz="1300">
                <a:solidFill>
                  <a:srgbClr val="F8FAFC"/>
                </a:solidFill>
                <a:latin typeface="Calibri"/>
              </a:defRPr>
            </a:pPr>
            <a:r>
              <a:t>•  Light &amp; Dark modes</a:t>
            </a:r>
          </a:p>
          <a:p>
            <a:pPr>
              <a:spcAft>
                <a:spcPts val="600"/>
              </a:spcAft>
              <a:defRPr sz="1300">
                <a:solidFill>
                  <a:srgbClr val="F8FAFC"/>
                </a:solidFill>
                <a:latin typeface="Calibri"/>
              </a:defRPr>
            </a:pPr>
            <a:r>
              <a:t>•  Isolated theme contexts</a:t>
            </a:r>
          </a:p>
          <a:p>
            <a:pPr>
              <a:spcAft>
                <a:spcPts val="600"/>
              </a:spcAft>
              <a:defRPr sz="1300">
                <a:solidFill>
                  <a:srgbClr val="F8FAFC"/>
                </a:solidFill>
                <a:latin typeface="Calibri"/>
              </a:defRPr>
            </a:pPr>
            <a:r>
              <a:t>•  data-theme attribute toggle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97280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94A3B8"/>
                </a:solidFill>
                <a:latin typeface="Calibri"/>
              </a:defRPr>
            </a:pPr>
            <a:r>
              <a:t>11/14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Calibri"/>
              </a:defRPr>
            </a:pPr>
            <a:r>
              <a:t>🐳 Deployment &amp; Infrastructure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051560"/>
            <a:ext cx="1097280" cy="63500"/>
          </a:xfrm>
          <a:prstGeom prst="roundRect">
            <a:avLst>
              <a:gd name="adj" fmla="val 50000"/>
            </a:avLst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23444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94A3B8"/>
                </a:solidFill>
                <a:latin typeface="Calibri"/>
              </a:defRPr>
            </a:pPr>
            <a:r>
              <a:t>Containerized deployment with Docker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8288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Calibri"/>
              </a:defRPr>
            </a:pPr>
            <a:r>
              <a:t>Docker Compose Services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377440"/>
            <a:ext cx="5029200" cy="86868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 w="1270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31520" y="2377440"/>
            <a:ext cx="63500" cy="868680"/>
          </a:xfrm>
          <a:prstGeom prst="roundRect">
            <a:avLst>
              <a:gd name="adj" fmla="val 50000"/>
            </a:avLst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2450592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6B6D4"/>
                </a:solidFill>
                <a:latin typeface="Calibri"/>
              </a:defRPr>
            </a:pPr>
            <a:r>
              <a:t>lifeos_db  —  PostgreSQL 16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2816352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4A3B8"/>
                </a:solidFill>
                <a:latin typeface="Calibri"/>
              </a:defRPr>
            </a:pPr>
            <a:r>
              <a:t>Primary database  ·  Port 5432  ·  Persistent volumes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3429000"/>
            <a:ext cx="5029200" cy="86868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731520" y="3429000"/>
            <a:ext cx="63500" cy="868680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05840" y="3502152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2563EB"/>
                </a:solidFill>
                <a:latin typeface="Calibri"/>
              </a:defRPr>
            </a:pPr>
            <a:r>
              <a:t>lifeos_app  —  FastAPI Application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3867912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4A3B8"/>
                </a:solidFill>
                <a:latin typeface="Calibri"/>
              </a:defRPr>
            </a:pPr>
            <a:r>
              <a:t>Main backend  ·  Port 8000  ·  Auto Alembic migrations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4480560"/>
            <a:ext cx="5029200" cy="86868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 w="1270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731520" y="4480560"/>
            <a:ext cx="63500" cy="868680"/>
          </a:xfrm>
          <a:prstGeom prst="roundRect">
            <a:avLst>
              <a:gd name="adj" fmla="val 50000"/>
            </a:avLst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05840" y="4553712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8B5CF6"/>
                </a:solidFill>
                <a:latin typeface="Calibri"/>
              </a:defRPr>
            </a:pPr>
            <a:r>
              <a:t>lifeos_chatbot  —  Flask RAG Chatbot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05840" y="4919472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4A3B8"/>
                </a:solidFill>
                <a:latin typeface="Calibri"/>
              </a:defRPr>
            </a:pPr>
            <a:r>
              <a:t>Pinecone vector DB  ·  Separate AI chat service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0" y="18288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Calibri"/>
              </a:defRPr>
            </a:pPr>
            <a:r>
              <a:t>Environment Variables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400800" y="2377440"/>
            <a:ext cx="5029200" cy="384048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583680" y="239014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60A5FA"/>
                </a:solidFill>
                <a:latin typeface="Calibri"/>
              </a:defRPr>
            </a:pPr>
            <a:r>
              <a:t>DATABASE_URL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869680" y="239014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Calibri"/>
              </a:defRPr>
            </a:pPr>
            <a:r>
              <a:t>PostgreSQL connection string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400800" y="2834640"/>
            <a:ext cx="5029200" cy="384048"/>
          </a:xfrm>
          <a:prstGeom prst="roundRect">
            <a:avLst>
              <a:gd name="adj" fmla="val 5000"/>
            </a:avLst>
          </a:prstGeom>
          <a:solidFill>
            <a:srgbClr val="1B24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583680" y="284734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60A5FA"/>
                </a:solidFill>
                <a:latin typeface="Calibri"/>
              </a:defRPr>
            </a:pPr>
            <a:r>
              <a:t>SECRET_KEY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869680" y="284734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Calibri"/>
              </a:defRPr>
            </a:pPr>
            <a:r>
              <a:t>JWT signing key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400800" y="3291840"/>
            <a:ext cx="5029200" cy="384048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583680" y="330454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60A5FA"/>
                </a:solidFill>
                <a:latin typeface="Calibri"/>
              </a:defRPr>
            </a:pPr>
            <a:r>
              <a:t>GROQ_API_KEY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869680" y="330454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Calibri"/>
              </a:defRPr>
            </a:pPr>
            <a:r>
              <a:t>AI model API key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400800" y="3749040"/>
            <a:ext cx="5029200" cy="384048"/>
          </a:xfrm>
          <a:prstGeom prst="roundRect">
            <a:avLst>
              <a:gd name="adj" fmla="val 5000"/>
            </a:avLst>
          </a:prstGeom>
          <a:solidFill>
            <a:srgbClr val="1B24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583680" y="376174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60A5FA"/>
                </a:solidFill>
                <a:latin typeface="Calibri"/>
              </a:defRPr>
            </a:pPr>
            <a:r>
              <a:t>GOOGLE_CLIENT_ID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869680" y="376174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Calibri"/>
              </a:defRPr>
            </a:pPr>
            <a:r>
              <a:t>OAuth client ID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400800" y="4206240"/>
            <a:ext cx="5029200" cy="384048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583680" y="421894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60A5FA"/>
                </a:solidFill>
                <a:latin typeface="Calibri"/>
              </a:defRPr>
            </a:pPr>
            <a:r>
              <a:t>FITBIT_CLIENT_ID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869680" y="421894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Calibri"/>
              </a:defRPr>
            </a:pPr>
            <a:r>
              <a:t>Wearable integration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400800" y="4663440"/>
            <a:ext cx="5029200" cy="384048"/>
          </a:xfrm>
          <a:prstGeom prst="roundRect">
            <a:avLst>
              <a:gd name="adj" fmla="val 5000"/>
            </a:avLst>
          </a:prstGeom>
          <a:solidFill>
            <a:srgbClr val="1B24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583680" y="467614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60A5FA"/>
                </a:solidFill>
                <a:latin typeface="Calibri"/>
              </a:defRPr>
            </a:pPr>
            <a:r>
              <a:t>CORS_ORIGINS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869680" y="467614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Calibri"/>
              </a:defRPr>
            </a:pPr>
            <a:r>
              <a:t>Allowed frontend origins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6400800" y="5120640"/>
            <a:ext cx="5029200" cy="384048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583680" y="513334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60A5FA"/>
                </a:solidFill>
                <a:latin typeface="Calibri"/>
              </a:defRPr>
            </a:pPr>
            <a:r>
              <a:t>DEBUG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869680" y="513334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Calibri"/>
              </a:defRPr>
            </a:pPr>
            <a:r>
              <a:t>Development mode flag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6400800" y="5577840"/>
            <a:ext cx="5029200" cy="384048"/>
          </a:xfrm>
          <a:prstGeom prst="roundRect">
            <a:avLst>
              <a:gd name="adj" fmla="val 5000"/>
            </a:avLst>
          </a:prstGeom>
          <a:solidFill>
            <a:srgbClr val="1B24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583680" y="559054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60A5FA"/>
                </a:solidFill>
                <a:latin typeface="Calibri"/>
              </a:defRPr>
            </a:pPr>
            <a:r>
              <a:t>MAX_FILE_SIZE_MB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869680" y="559054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Calibri"/>
              </a:defRPr>
            </a:pPr>
            <a:r>
              <a:t>Upload size limit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097280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94A3B8"/>
                </a:solidFill>
                <a:latin typeface="Calibri"/>
              </a:defRPr>
            </a:pPr>
            <a:r>
              <a:t>12/14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Calibri"/>
              </a:defRPr>
            </a:pPr>
            <a:r>
              <a:t>🚀 Future Roadmap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051560"/>
            <a:ext cx="1097280" cy="63500"/>
          </a:xfrm>
          <a:prstGeom prst="roundRect">
            <a:avLst>
              <a:gd name="adj" fmla="val 50000"/>
            </a:avLst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23444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94A3B8"/>
                </a:solidFill>
                <a:latin typeface="Calibri"/>
              </a:defRPr>
            </a:pPr>
            <a:r>
              <a:t>Planned enhancements and next-phase features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828800"/>
            <a:ext cx="2468880" cy="292608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005840" y="1965960"/>
            <a:ext cx="548640" cy="50800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057400"/>
            <a:ext cx="1920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2563EB"/>
                </a:solidFill>
                <a:latin typeface="Calibri"/>
              </a:defRPr>
            </a:pPr>
            <a:r>
              <a:t>Phase 1 — Security Hardening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468880"/>
            <a:ext cx="192024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>
                <a:solidFill>
                  <a:srgbClr val="F8FAFC"/>
                </a:solidFill>
                <a:latin typeface="Calibri"/>
              </a:defRPr>
            </a:pPr>
            <a:r>
              <a:t>•  Server-side token revocation / blacklist</a:t>
            </a:r>
          </a:p>
          <a:p>
            <a:pPr>
              <a:spcAft>
                <a:spcPts val="600"/>
              </a:spcAft>
              <a:defRPr sz="1300">
                <a:solidFill>
                  <a:srgbClr val="F8FAFC"/>
                </a:solidFill>
                <a:latin typeface="Calibri"/>
              </a:defRPr>
            </a:pPr>
            <a:r>
              <a:t>•  Robust RBAC middleware with @requires_role</a:t>
            </a:r>
          </a:p>
          <a:p>
            <a:pPr>
              <a:spcAft>
                <a:spcPts val="600"/>
              </a:spcAft>
              <a:defRPr sz="1300">
                <a:solidFill>
                  <a:srgbClr val="F8FAFC"/>
                </a:solidFill>
                <a:latin typeface="Calibri"/>
              </a:defRPr>
            </a:pPr>
            <a:r>
              <a:t>•  Backup recovery codes for 2FA</a:t>
            </a:r>
          </a:p>
          <a:p>
            <a:pPr>
              <a:spcAft>
                <a:spcPts val="600"/>
              </a:spcAft>
              <a:defRPr sz="1300">
                <a:solidFill>
                  <a:srgbClr val="F8FAFC"/>
                </a:solidFill>
                <a:latin typeface="Calibri"/>
              </a:defRPr>
            </a:pPr>
            <a:r>
              <a:t>•  Anti-spoofing / liveness for face auth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447288" y="1828800"/>
            <a:ext cx="2468880" cy="292608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 w="1270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3721608" y="1965960"/>
            <a:ext cx="548640" cy="50800"/>
          </a:xfrm>
          <a:prstGeom prst="roundRect">
            <a:avLst>
              <a:gd name="adj" fmla="val 50000"/>
            </a:avLst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721608" y="2057400"/>
            <a:ext cx="1920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6B6D4"/>
                </a:solidFill>
                <a:latin typeface="Calibri"/>
              </a:defRPr>
            </a:pPr>
            <a:r>
              <a:t>Phase 2 — Real-Time Features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721608" y="2468880"/>
            <a:ext cx="192024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>
                <a:solidFill>
                  <a:srgbClr val="F8FAFC"/>
                </a:solidFill>
                <a:latin typeface="Calibri"/>
              </a:defRPr>
            </a:pPr>
            <a:r>
              <a:t>•  WebSocket-based live notifications</a:t>
            </a:r>
          </a:p>
          <a:p>
            <a:pPr>
              <a:spcAft>
                <a:spcPts val="600"/>
              </a:spcAft>
              <a:defRPr sz="1300">
                <a:solidFill>
                  <a:srgbClr val="F8FAFC"/>
                </a:solidFill>
                <a:latin typeface="Calibri"/>
              </a:defRPr>
            </a:pPr>
            <a:r>
              <a:t>•  Push notifications (FCM / APNS)</a:t>
            </a:r>
          </a:p>
          <a:p>
            <a:pPr>
              <a:spcAft>
                <a:spcPts val="600"/>
              </a:spcAft>
              <a:defRPr sz="1300">
                <a:solidFill>
                  <a:srgbClr val="F8FAFC"/>
                </a:solidFill>
                <a:latin typeface="Calibri"/>
              </a:defRPr>
            </a:pPr>
            <a:r>
              <a:t>•  In-app notification system</a:t>
            </a:r>
          </a:p>
          <a:p>
            <a:pPr>
              <a:spcAft>
                <a:spcPts val="600"/>
              </a:spcAft>
              <a:defRPr sz="1300">
                <a:solidFill>
                  <a:srgbClr val="F8FAFC"/>
                </a:solidFill>
                <a:latin typeface="Calibri"/>
              </a:defRPr>
            </a:pPr>
            <a:r>
              <a:t>•  Real-time health alerts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63056" y="1828800"/>
            <a:ext cx="2468880" cy="292608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 w="12700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437376" y="1965960"/>
            <a:ext cx="548640" cy="50800"/>
          </a:xfrm>
          <a:prstGeom prst="roundRect">
            <a:avLst>
              <a:gd name="adj" fmla="val 50000"/>
            </a:avLst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37376" y="2057400"/>
            <a:ext cx="1920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22C55E"/>
                </a:solidFill>
                <a:latin typeface="Calibri"/>
              </a:defRPr>
            </a:pPr>
            <a:r>
              <a:t>Phase 3 — Platform Expansion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37376" y="2468880"/>
            <a:ext cx="192024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>
                <a:solidFill>
                  <a:srgbClr val="F8FAFC"/>
                </a:solidFill>
                <a:latin typeface="Calibri"/>
              </a:defRPr>
            </a:pPr>
            <a:r>
              <a:t>•  FHIR / HL7 health data standards</a:t>
            </a:r>
          </a:p>
          <a:p>
            <a:pPr>
              <a:spcAft>
                <a:spcPts val="600"/>
              </a:spcAft>
              <a:defRPr sz="1300">
                <a:solidFill>
                  <a:srgbClr val="F8FAFC"/>
                </a:solidFill>
                <a:latin typeface="Calibri"/>
              </a:defRPr>
            </a:pPr>
            <a:r>
              <a:t>•  Cloud storage (S3 / Cloudinary)</a:t>
            </a:r>
          </a:p>
          <a:p>
            <a:pPr>
              <a:spcAft>
                <a:spcPts val="600"/>
              </a:spcAft>
              <a:defRPr sz="1300">
                <a:solidFill>
                  <a:srgbClr val="F8FAFC"/>
                </a:solidFill>
                <a:latin typeface="Calibri"/>
              </a:defRPr>
            </a:pPr>
            <a:r>
              <a:t>•  Payment integration for billing</a:t>
            </a:r>
          </a:p>
          <a:p>
            <a:pPr>
              <a:spcAft>
                <a:spcPts val="600"/>
              </a:spcAft>
              <a:defRPr sz="1300">
                <a:solidFill>
                  <a:srgbClr val="F8FAFC"/>
                </a:solidFill>
                <a:latin typeface="Calibri"/>
              </a:defRPr>
            </a:pPr>
            <a:r>
              <a:t>•  Calendar sync (Google Calendar)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878824" y="1828800"/>
            <a:ext cx="2468880" cy="292608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 w="1270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9153144" y="1965960"/>
            <a:ext cx="548640" cy="50800"/>
          </a:xfrm>
          <a:prstGeom prst="roundRect">
            <a:avLst>
              <a:gd name="adj" fmla="val 50000"/>
            </a:avLst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153144" y="2057400"/>
            <a:ext cx="1920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8B5CF6"/>
                </a:solidFill>
                <a:latin typeface="Calibri"/>
              </a:defRPr>
            </a:pPr>
            <a:r>
              <a:t>Phase 4 — AI Evolution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53144" y="2468880"/>
            <a:ext cx="192024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>
                <a:solidFill>
                  <a:srgbClr val="F8FAFC"/>
                </a:solidFill>
                <a:latin typeface="Calibri"/>
              </a:defRPr>
            </a:pPr>
            <a:r>
              <a:t>•  Full RAG pipeline in main app</a:t>
            </a:r>
          </a:p>
          <a:p>
            <a:pPr>
              <a:spcAft>
                <a:spcPts val="600"/>
              </a:spcAft>
              <a:defRPr sz="1300">
                <a:solidFill>
                  <a:srgbClr val="F8FAFC"/>
                </a:solidFill>
                <a:latin typeface="Calibri"/>
              </a:defRPr>
            </a:pPr>
            <a:r>
              <a:t>•  Multi-turn conversation context</a:t>
            </a:r>
          </a:p>
          <a:p>
            <a:pPr>
              <a:spcAft>
                <a:spcPts val="600"/>
              </a:spcAft>
              <a:defRPr sz="1300">
                <a:solidFill>
                  <a:srgbClr val="F8FAFC"/>
                </a:solidFill>
                <a:latin typeface="Calibri"/>
              </a:defRPr>
            </a:pPr>
            <a:r>
              <a:t>•  OCR for image-based PDFs</a:t>
            </a:r>
          </a:p>
          <a:p>
            <a:pPr>
              <a:spcAft>
                <a:spcPts val="600"/>
              </a:spcAft>
              <a:defRPr sz="1300">
                <a:solidFill>
                  <a:srgbClr val="F8FAFC"/>
                </a:solidFill>
                <a:latin typeface="Calibri"/>
              </a:defRPr>
            </a:pPr>
            <a:r>
              <a:t>•  Predictive health modeling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97280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94A3B8"/>
                </a:solidFill>
                <a:latin typeface="Calibri"/>
              </a:defRPr>
            </a:pPr>
            <a:r>
              <a:t>13/14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-1828800" y="-1828800"/>
            <a:ext cx="5486400" cy="5486400"/>
          </a:xfrm>
          <a:prstGeom prst="ellipse">
            <a:avLst/>
          </a:prstGeom>
          <a:solidFill>
            <a:srgbClr val="142B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144000" y="3657600"/>
            <a:ext cx="4572000" cy="4572000"/>
          </a:xfrm>
          <a:prstGeom prst="ellipse">
            <a:avLst/>
          </a:prstGeom>
          <a:solidFill>
            <a:srgbClr val="0E3D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0" y="1828800"/>
            <a:ext cx="121916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600" b="1">
                <a:solidFill>
                  <a:srgbClr val="FFFFFF"/>
                </a:solidFill>
                <a:latin typeface="Calibri"/>
              </a:defRPr>
            </a:pPr>
            <a:r>
              <a:t>Thank You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0" y="2834640"/>
            <a:ext cx="2103120" cy="63500"/>
          </a:xfrm>
          <a:prstGeom prst="roundRect">
            <a:avLst>
              <a:gd name="adj" fmla="val 50000"/>
            </a:avLst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0" y="3108960"/>
            <a:ext cx="1219169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>
                <a:solidFill>
                  <a:srgbClr val="60A5FA"/>
                </a:solidFill>
                <a:latin typeface="Calibri"/>
              </a:defRPr>
            </a:pPr>
            <a:r>
              <a:t>LifeOS — AI-Powered Healthcare Operating System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0" y="3931920"/>
            <a:ext cx="121916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94A3B8"/>
                </a:solidFill>
                <a:latin typeface="Calibri"/>
              </a:defRPr>
            </a:pPr>
            <a:r>
              <a:t>Built with FastAPI  ·  React  ·  PostgreSQL  ·  Groq Llama 3.3  ·  Docker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114800" y="4754880"/>
            <a:ext cx="3931920" cy="128016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389120" y="4846320"/>
            <a:ext cx="3383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60A5FA"/>
                </a:solidFill>
                <a:latin typeface="Calibri"/>
              </a:defRPr>
            </a:pPr>
            <a:r>
              <a:t>📚  Quick Links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389120" y="5212080"/>
            <a:ext cx="3383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F8FAFC"/>
                </a:solidFill>
                <a:latin typeface="Calibri"/>
              </a:defRPr>
            </a:pPr>
            <a:r>
              <a:t>Swagger:  localhost:8000/docs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389120" y="5486400"/>
            <a:ext cx="3383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F8FAFC"/>
                </a:solidFill>
                <a:latin typeface="Calibri"/>
              </a:defRPr>
            </a:pPr>
            <a:r>
              <a:t>Frontend:  localhost:5173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89120" y="5760720"/>
            <a:ext cx="3383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F8FAFC"/>
                </a:solidFill>
                <a:latin typeface="Calibri"/>
              </a:defRPr>
            </a:pPr>
            <a:r>
              <a:t>ReDoc:  localhost:8000/redoc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7280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94A3B8"/>
                </a:solidFill>
                <a:latin typeface="Calibri"/>
              </a:defRPr>
            </a:pPr>
            <a:r>
              <a:t>14/14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